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notesSlides/notesSlide1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81" r:id="rId2"/>
  </p:sldMasterIdLst>
  <p:notesMasterIdLst>
    <p:notesMasterId r:id="rId12"/>
  </p:notesMasterIdLst>
  <p:sldIdLst>
    <p:sldId id="8380" r:id="rId3"/>
    <p:sldId id="2147483645" r:id="rId4"/>
    <p:sldId id="8485" r:id="rId5"/>
    <p:sldId id="2147483513" r:id="rId6"/>
    <p:sldId id="8515" r:id="rId7"/>
    <p:sldId id="8519" r:id="rId8"/>
    <p:sldId id="270" r:id="rId9"/>
    <p:sldId id="2147473197" r:id="rId10"/>
    <p:sldId id="8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an Shank" userId="daada91c-9173-4cf9-a78f-555f7d7e1aa5" providerId="ADAL" clId="{A8CAC1B1-1B5B-434C-9E5F-ED85875A3A22}"/>
    <pc:docChg chg="custSel modSld modMainMaster">
      <pc:chgData name="Sylvan Shank" userId="daada91c-9173-4cf9-a78f-555f7d7e1aa5" providerId="ADAL" clId="{A8CAC1B1-1B5B-434C-9E5F-ED85875A3A22}" dt="2026-06-22T16:22:01.424" v="150" actId="6549"/>
      <pc:docMkLst>
        <pc:docMk/>
      </pc:docMkLst>
      <pc:sldChg chg="modSp mod">
        <pc:chgData name="Sylvan Shank" userId="daada91c-9173-4cf9-a78f-555f7d7e1aa5" providerId="ADAL" clId="{A8CAC1B1-1B5B-434C-9E5F-ED85875A3A22}" dt="2026-06-22T15:12:22.755" v="143" actId="299"/>
        <pc:sldMkLst>
          <pc:docMk/>
          <pc:sldMk cId="850787021" sldId="270"/>
        </pc:sldMkLst>
        <pc:spChg chg="mod">
          <ac:chgData name="Sylvan Shank" userId="daada91c-9173-4cf9-a78f-555f7d7e1aa5" providerId="ADAL" clId="{A8CAC1B1-1B5B-434C-9E5F-ED85875A3A22}" dt="2026-06-22T15:12:22.755" v="143" actId="299"/>
          <ac:spMkLst>
            <pc:docMk/>
            <pc:sldMk cId="850787021" sldId="270"/>
            <ac:spMk id="2" creationId="{7A60BB11-B1E3-088E-B9F0-F7DDC790845D}"/>
          </ac:spMkLst>
        </pc:spChg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850787021" sldId="270"/>
            <ac:spMk id="3" creationId="{70B2C12D-3429-43D1-D643-2CBBD04EB502}"/>
          </ac:spMkLst>
        </pc:spChg>
        <pc:spChg chg="mod">
          <ac:chgData name="Sylvan Shank" userId="daada91c-9173-4cf9-a78f-555f7d7e1aa5" providerId="ADAL" clId="{A8CAC1B1-1B5B-434C-9E5F-ED85875A3A22}" dt="2026-06-22T15:12:22.472" v="114"/>
          <ac:spMkLst>
            <pc:docMk/>
            <pc:sldMk cId="850787021" sldId="270"/>
            <ac:spMk id="5" creationId="{104E6BC1-4E48-7F9D-E254-9F535321A9EC}"/>
          </ac:spMkLst>
        </pc:spChg>
        <pc:spChg chg="mod">
          <ac:chgData name="Sylvan Shank" userId="daada91c-9173-4cf9-a78f-555f7d7e1aa5" providerId="ADAL" clId="{A8CAC1B1-1B5B-434C-9E5F-ED85875A3A22}" dt="2026-06-22T15:12:22.484" v="115"/>
          <ac:spMkLst>
            <pc:docMk/>
            <pc:sldMk cId="850787021" sldId="270"/>
            <ac:spMk id="6" creationId="{0BF21AD8-DA23-9CED-5646-5DA4A8B18416}"/>
          </ac:spMkLst>
        </pc:spChg>
        <pc:spChg chg="mod">
          <ac:chgData name="Sylvan Shank" userId="daada91c-9173-4cf9-a78f-555f7d7e1aa5" providerId="ADAL" clId="{A8CAC1B1-1B5B-434C-9E5F-ED85875A3A22}" dt="2026-06-22T15:12:22.494" v="116"/>
          <ac:spMkLst>
            <pc:docMk/>
            <pc:sldMk cId="850787021" sldId="270"/>
            <ac:spMk id="7" creationId="{41C3ECB3-C40A-BF8A-A3EA-3AF685E1FE2B}"/>
          </ac:spMkLst>
        </pc:spChg>
        <pc:spChg chg="mod">
          <ac:chgData name="Sylvan Shank" userId="daada91c-9173-4cf9-a78f-555f7d7e1aa5" providerId="ADAL" clId="{A8CAC1B1-1B5B-434C-9E5F-ED85875A3A22}" dt="2026-06-22T15:12:22.460" v="112"/>
          <ac:spMkLst>
            <pc:docMk/>
            <pc:sldMk cId="850787021" sldId="270"/>
            <ac:spMk id="9" creationId="{054EE2F1-BFD1-E9BF-AB95-1D6FF00A7A13}"/>
          </ac:spMkLst>
        </pc:spChg>
        <pc:spChg chg="mod">
          <ac:chgData name="Sylvan Shank" userId="daada91c-9173-4cf9-a78f-555f7d7e1aa5" providerId="ADAL" clId="{A8CAC1B1-1B5B-434C-9E5F-ED85875A3A22}" dt="2026-06-22T15:12:22.468" v="113"/>
          <ac:spMkLst>
            <pc:docMk/>
            <pc:sldMk cId="850787021" sldId="270"/>
            <ac:spMk id="10" creationId="{B979447C-D4E1-F1B7-3310-EA6BB8BF5220}"/>
          </ac:spMkLst>
        </pc:spChg>
      </pc:sldChg>
      <pc:sldChg chg="delSp modSp mod">
        <pc:chgData name="Sylvan Shank" userId="daada91c-9173-4cf9-a78f-555f7d7e1aa5" providerId="ADAL" clId="{A8CAC1B1-1B5B-434C-9E5F-ED85875A3A22}" dt="2026-06-22T16:22:01.424" v="150" actId="6549"/>
        <pc:sldMkLst>
          <pc:docMk/>
          <pc:sldMk cId="1542824159" sldId="8380"/>
        </pc:sldMkLst>
        <pc:spChg chg="mod">
          <ac:chgData name="Sylvan Shank" userId="daada91c-9173-4cf9-a78f-555f7d7e1aa5" providerId="ADAL" clId="{A8CAC1B1-1B5B-434C-9E5F-ED85875A3A22}" dt="2026-06-22T15:12:22.720" v="134" actId="299"/>
          <ac:spMkLst>
            <pc:docMk/>
            <pc:sldMk cId="1542824159" sldId="8380"/>
            <ac:spMk id="2" creationId="{F27AD5BB-4D88-4802-064C-F42C2EF11578}"/>
          </ac:spMkLst>
        </pc:spChg>
        <pc:spChg chg="mod">
          <ac:chgData name="Sylvan Shank" userId="daada91c-9173-4cf9-a78f-555f7d7e1aa5" providerId="ADAL" clId="{A8CAC1B1-1B5B-434C-9E5F-ED85875A3A22}" dt="2026-06-22T16:22:01.424" v="150" actId="6549"/>
          <ac:spMkLst>
            <pc:docMk/>
            <pc:sldMk cId="1542824159" sldId="8380"/>
            <ac:spMk id="3" creationId="{38C1C4B0-0494-64BE-3978-41114DD5AAD6}"/>
          </ac:spMkLst>
        </pc:spChg>
        <pc:spChg chg="mod">
          <ac:chgData name="Sylvan Shank" userId="daada91c-9173-4cf9-a78f-555f7d7e1aa5" providerId="ADAL" clId="{A8CAC1B1-1B5B-434C-9E5F-ED85875A3A22}" dt="2026-06-22T15:12:21.846" v="90"/>
          <ac:spMkLst>
            <pc:docMk/>
            <pc:sldMk cId="1542824159" sldId="8380"/>
            <ac:spMk id="4" creationId="{9E58D1FB-D38E-2C3D-195D-C261611387D4}"/>
          </ac:spMkLst>
        </pc:spChg>
        <pc:picChg chg="del">
          <ac:chgData name="Sylvan Shank" userId="daada91c-9173-4cf9-a78f-555f7d7e1aa5" providerId="ADAL" clId="{A8CAC1B1-1B5B-434C-9E5F-ED85875A3A22}" dt="2026-06-22T15:00:34.948" v="65"/>
          <ac:picMkLst>
            <pc:docMk/>
            <pc:sldMk cId="1542824159" sldId="8380"/>
            <ac:picMk id="1026" creationId="{AD0173FA-E821-D107-CCFE-EBB851BBBC23}"/>
          </ac:picMkLst>
        </pc:picChg>
      </pc:sldChg>
      <pc:sldChg chg="modSp mod">
        <pc:chgData name="Sylvan Shank" userId="daada91c-9173-4cf9-a78f-555f7d7e1aa5" providerId="ADAL" clId="{A8CAC1B1-1B5B-434C-9E5F-ED85875A3A22}" dt="2026-06-22T15:12:22.686" v="128"/>
        <pc:sldMkLst>
          <pc:docMk/>
          <pc:sldMk cId="4124547456" sldId="8383"/>
        </pc:sldMkLst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4124547456" sldId="8383"/>
            <ac:spMk id="2" creationId="{CF117FD7-BFAD-6DC3-A517-574EEED2C9FD}"/>
          </ac:spMkLst>
        </pc:spChg>
        <pc:spChg chg="mod">
          <ac:chgData name="Sylvan Shank" userId="daada91c-9173-4cf9-a78f-555f7d7e1aa5" providerId="ADAL" clId="{A8CAC1B1-1B5B-434C-9E5F-ED85875A3A22}" dt="2026-06-22T15:12:22.682" v="127"/>
          <ac:spMkLst>
            <pc:docMk/>
            <pc:sldMk cId="4124547456" sldId="8383"/>
            <ac:spMk id="3" creationId="{76C940BD-9B4F-8B18-DDE8-32D5A24F947D}"/>
          </ac:spMkLst>
        </pc:spChg>
        <pc:spChg chg="mod">
          <ac:chgData name="Sylvan Shank" userId="daada91c-9173-4cf9-a78f-555f7d7e1aa5" providerId="ADAL" clId="{A8CAC1B1-1B5B-434C-9E5F-ED85875A3A22}" dt="2026-06-22T15:12:22.686" v="128"/>
          <ac:spMkLst>
            <pc:docMk/>
            <pc:sldMk cId="4124547456" sldId="8383"/>
            <ac:spMk id="8" creationId="{9FD3FC2C-D746-10E8-6F13-2C2CC2F483AC}"/>
          </ac:spMkLst>
        </pc:spChg>
        <pc:spChg chg="mod">
          <ac:chgData name="Sylvan Shank" userId="daada91c-9173-4cf9-a78f-555f7d7e1aa5" providerId="ADAL" clId="{A8CAC1B1-1B5B-434C-9E5F-ED85875A3A22}" dt="2026-06-22T15:12:22.655" v="125"/>
          <ac:spMkLst>
            <pc:docMk/>
            <pc:sldMk cId="4124547456" sldId="8383"/>
            <ac:spMk id="9" creationId="{B5082D74-017B-F1ED-0BF9-A50E259B8B2B}"/>
          </ac:spMkLst>
        </pc:spChg>
        <pc:spChg chg="mod">
          <ac:chgData name="Sylvan Shank" userId="daada91c-9173-4cf9-a78f-555f7d7e1aa5" providerId="ADAL" clId="{A8CAC1B1-1B5B-434C-9E5F-ED85875A3A22}" dt="2026-06-22T15:12:22.680" v="126"/>
          <ac:spMkLst>
            <pc:docMk/>
            <pc:sldMk cId="4124547456" sldId="8383"/>
            <ac:spMk id="12" creationId="{8B24F4EA-E7DC-7F4C-CBC6-0A09550902F9}"/>
          </ac:spMkLst>
        </pc:spChg>
      </pc:sldChg>
      <pc:sldChg chg="modSp mod">
        <pc:chgData name="Sylvan Shank" userId="daada91c-9173-4cf9-a78f-555f7d7e1aa5" providerId="ADAL" clId="{A8CAC1B1-1B5B-434C-9E5F-ED85875A3A22}" dt="2026-06-22T15:12:22.767" v="146" actId="299"/>
        <pc:sldMkLst>
          <pc:docMk/>
          <pc:sldMk cId="1545419594" sldId="8485"/>
        </pc:sldMkLst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1545419594" sldId="8485"/>
            <ac:spMk id="3" creationId="{18E6EF08-F0BA-51B8-EDD7-DD9EE35E1BE1}"/>
          </ac:spMkLst>
        </pc:spChg>
        <pc:spChg chg="mod">
          <ac:chgData name="Sylvan Shank" userId="daada91c-9173-4cf9-a78f-555f7d7e1aa5" providerId="ADAL" clId="{A8CAC1B1-1B5B-434C-9E5F-ED85875A3A22}" dt="2026-06-22T15:12:22.767" v="146" actId="299"/>
          <ac:spMkLst>
            <pc:docMk/>
            <pc:sldMk cId="1545419594" sldId="8485"/>
            <ac:spMk id="7" creationId="{2D9E43F6-CB44-F607-684C-48830CD9D748}"/>
          </ac:spMkLst>
        </pc:spChg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1545419594" sldId="8485"/>
            <ac:spMk id="8" creationId="{A3D22ED1-E160-E257-C02B-2A2A8DAB2A54}"/>
          </ac:spMkLst>
        </pc:spChg>
        <pc:spChg chg="mod">
          <ac:chgData name="Sylvan Shank" userId="daada91c-9173-4cf9-a78f-555f7d7e1aa5" providerId="ADAL" clId="{A8CAC1B1-1B5B-434C-9E5F-ED85875A3A22}" dt="2026-06-22T15:12:21.944" v="93"/>
          <ac:spMkLst>
            <pc:docMk/>
            <pc:sldMk cId="1545419594" sldId="8485"/>
            <ac:spMk id="12" creationId="{69C118B0-E32F-10E2-02C2-A96402463DBF}"/>
          </ac:spMkLst>
        </pc:spChg>
      </pc:sldChg>
      <pc:sldChg chg="modSp mod">
        <pc:chgData name="Sylvan Shank" userId="daada91c-9173-4cf9-a78f-555f7d7e1aa5" providerId="ADAL" clId="{A8CAC1B1-1B5B-434C-9E5F-ED85875A3A22}" dt="2026-06-22T15:12:22.732" v="137" actId="299"/>
        <pc:sldMkLst>
          <pc:docMk/>
          <pc:sldMk cId="2767847355" sldId="8515"/>
        </pc:sldMkLst>
        <pc:spChg chg="mod">
          <ac:chgData name="Sylvan Shank" userId="daada91c-9173-4cf9-a78f-555f7d7e1aa5" providerId="ADAL" clId="{A8CAC1B1-1B5B-434C-9E5F-ED85875A3A22}" dt="2026-06-22T15:12:22.732" v="137" actId="299"/>
          <ac:spMkLst>
            <pc:docMk/>
            <pc:sldMk cId="2767847355" sldId="8515"/>
            <ac:spMk id="2" creationId="{EF64CE49-B5FD-FE68-B779-6CB2795ADF06}"/>
          </ac:spMkLst>
        </pc:spChg>
        <pc:spChg chg="mod">
          <ac:chgData name="Sylvan Shank" userId="daada91c-9173-4cf9-a78f-555f7d7e1aa5" providerId="ADAL" clId="{A8CAC1B1-1B5B-434C-9E5F-ED85875A3A22}" dt="2026-06-22T15:12:22.133" v="98"/>
          <ac:spMkLst>
            <pc:docMk/>
            <pc:sldMk cId="2767847355" sldId="8515"/>
            <ac:spMk id="6" creationId="{28C2227D-78C8-F294-6D52-60D4AF2F433B}"/>
          </ac:spMkLst>
        </pc:spChg>
        <pc:spChg chg="mod">
          <ac:chgData name="Sylvan Shank" userId="daada91c-9173-4cf9-a78f-555f7d7e1aa5" providerId="ADAL" clId="{A8CAC1B1-1B5B-434C-9E5F-ED85875A3A22}" dt="2026-06-22T15:12:22.152" v="99"/>
          <ac:spMkLst>
            <pc:docMk/>
            <pc:sldMk cId="2767847355" sldId="8515"/>
            <ac:spMk id="7" creationId="{1BA994D6-5A7B-3D9D-9EE6-F34FC529FEF3}"/>
          </ac:spMkLst>
        </pc:spChg>
        <pc:spChg chg="mod">
          <ac:chgData name="Sylvan Shank" userId="daada91c-9173-4cf9-a78f-555f7d7e1aa5" providerId="ADAL" clId="{A8CAC1B1-1B5B-434C-9E5F-ED85875A3A22}" dt="2026-06-22T15:12:22.176" v="100"/>
          <ac:spMkLst>
            <pc:docMk/>
            <pc:sldMk cId="2767847355" sldId="8515"/>
            <ac:spMk id="16" creationId="{0FE638EF-B5B3-11BE-CF22-00D065FE0232}"/>
          </ac:spMkLst>
        </pc:spChg>
        <pc:spChg chg="mod">
          <ac:chgData name="Sylvan Shank" userId="daada91c-9173-4cf9-a78f-555f7d7e1aa5" providerId="ADAL" clId="{A8CAC1B1-1B5B-434C-9E5F-ED85875A3A22}" dt="2026-06-22T15:12:22.194" v="101"/>
          <ac:spMkLst>
            <pc:docMk/>
            <pc:sldMk cId="2767847355" sldId="8515"/>
            <ac:spMk id="17" creationId="{F9700778-CF8B-A439-8E68-ADC4A70BAB1B}"/>
          </ac:spMkLst>
        </pc:spChg>
        <pc:spChg chg="mod">
          <ac:chgData name="Sylvan Shank" userId="daada91c-9173-4cf9-a78f-555f7d7e1aa5" providerId="ADAL" clId="{A8CAC1B1-1B5B-434C-9E5F-ED85875A3A22}" dt="2026-06-22T15:12:22.230" v="102"/>
          <ac:spMkLst>
            <pc:docMk/>
            <pc:sldMk cId="2767847355" sldId="8515"/>
            <ac:spMk id="24" creationId="{29C2F92A-4DB1-1D2B-1996-168080959A8B}"/>
          </ac:spMkLst>
        </pc:spChg>
        <pc:spChg chg="mod">
          <ac:chgData name="Sylvan Shank" userId="daada91c-9173-4cf9-a78f-555f7d7e1aa5" providerId="ADAL" clId="{A8CAC1B1-1B5B-434C-9E5F-ED85875A3A22}" dt="2026-06-22T15:12:22.261" v="103"/>
          <ac:spMkLst>
            <pc:docMk/>
            <pc:sldMk cId="2767847355" sldId="8515"/>
            <ac:spMk id="26" creationId="{D155A2A3-EBE7-7538-3528-EB8C1904FB2A}"/>
          </ac:spMkLst>
        </pc:spChg>
        <pc:spChg chg="mod">
          <ac:chgData name="Sylvan Shank" userId="daada91c-9173-4cf9-a78f-555f7d7e1aa5" providerId="ADAL" clId="{A8CAC1B1-1B5B-434C-9E5F-ED85875A3A22}" dt="2026-06-22T15:12:22.286" v="104"/>
          <ac:spMkLst>
            <pc:docMk/>
            <pc:sldMk cId="2767847355" sldId="8515"/>
            <ac:spMk id="29" creationId="{C80DC7DE-AC4F-B350-848B-55A0C5F1FC3B}"/>
          </ac:spMkLst>
        </pc:spChg>
      </pc:sldChg>
      <pc:sldChg chg="modSp mod">
        <pc:chgData name="Sylvan Shank" userId="daada91c-9173-4cf9-a78f-555f7d7e1aa5" providerId="ADAL" clId="{A8CAC1B1-1B5B-434C-9E5F-ED85875A3A22}" dt="2026-06-22T15:12:22.780" v="149" actId="299"/>
        <pc:sldMkLst>
          <pc:docMk/>
          <pc:sldMk cId="710602522" sldId="8519"/>
        </pc:sldMkLst>
        <pc:spChg chg="mod">
          <ac:chgData name="Sylvan Shank" userId="daada91c-9173-4cf9-a78f-555f7d7e1aa5" providerId="ADAL" clId="{A8CAC1B1-1B5B-434C-9E5F-ED85875A3A22}" dt="2026-06-22T15:12:22.780" v="149" actId="299"/>
          <ac:spMkLst>
            <pc:docMk/>
            <pc:sldMk cId="710602522" sldId="8519"/>
            <ac:spMk id="2" creationId="{EF64DEB3-C69B-B87C-560F-EE69235BFB90}"/>
          </ac:spMkLst>
        </pc:spChg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710602522" sldId="8519"/>
            <ac:spMk id="4" creationId="{0F270FC6-EC20-BFBF-6AFE-B485635C1308}"/>
          </ac:spMkLst>
        </pc:spChg>
        <pc:spChg chg="mod">
          <ac:chgData name="Sylvan Shank" userId="daada91c-9173-4cf9-a78f-555f7d7e1aa5" providerId="ADAL" clId="{A8CAC1B1-1B5B-434C-9E5F-ED85875A3A22}" dt="2026-06-22T15:12:22.385" v="106"/>
          <ac:spMkLst>
            <pc:docMk/>
            <pc:sldMk cId="710602522" sldId="8519"/>
            <ac:spMk id="6" creationId="{E759C719-67C5-4081-17FE-A10FFACD2862}"/>
          </ac:spMkLst>
        </pc:spChg>
        <pc:spChg chg="mod">
          <ac:chgData name="Sylvan Shank" userId="daada91c-9173-4cf9-a78f-555f7d7e1aa5" providerId="ADAL" clId="{A8CAC1B1-1B5B-434C-9E5F-ED85875A3A22}" dt="2026-06-22T15:12:22.395" v="107"/>
          <ac:spMkLst>
            <pc:docMk/>
            <pc:sldMk cId="710602522" sldId="8519"/>
            <ac:spMk id="7" creationId="{828236EB-8415-0207-52A0-DCC25F343AF0}"/>
          </ac:spMkLst>
        </pc:spChg>
        <pc:spChg chg="mod">
          <ac:chgData name="Sylvan Shank" userId="daada91c-9173-4cf9-a78f-555f7d7e1aa5" providerId="ADAL" clId="{A8CAC1B1-1B5B-434C-9E5F-ED85875A3A22}" dt="2026-06-22T15:12:22.430" v="110"/>
          <ac:spMkLst>
            <pc:docMk/>
            <pc:sldMk cId="710602522" sldId="8519"/>
            <ac:spMk id="8" creationId="{7E437794-75DC-40F7-A4D6-4026676A25DA}"/>
          </ac:spMkLst>
        </pc:spChg>
        <pc:spChg chg="mod">
          <ac:chgData name="Sylvan Shank" userId="daada91c-9173-4cf9-a78f-555f7d7e1aa5" providerId="ADAL" clId="{A8CAC1B1-1B5B-434C-9E5F-ED85875A3A22}" dt="2026-06-22T15:12:22.402" v="108"/>
          <ac:spMkLst>
            <pc:docMk/>
            <pc:sldMk cId="710602522" sldId="8519"/>
            <ac:spMk id="9" creationId="{E518DFB4-1B74-099F-CA75-7DC3874A43AC}"/>
          </ac:spMkLst>
        </pc:spChg>
        <pc:spChg chg="mod">
          <ac:chgData name="Sylvan Shank" userId="daada91c-9173-4cf9-a78f-555f7d7e1aa5" providerId="ADAL" clId="{A8CAC1B1-1B5B-434C-9E5F-ED85875A3A22}" dt="2026-06-22T15:12:22.412" v="109"/>
          <ac:spMkLst>
            <pc:docMk/>
            <pc:sldMk cId="710602522" sldId="8519"/>
            <ac:spMk id="21" creationId="{04274BDE-261D-0189-EB63-E60057298A80}"/>
          </ac:spMkLst>
        </pc:spChg>
      </pc:sldChg>
      <pc:sldChg chg="modSp mod">
        <pc:chgData name="Sylvan Shank" userId="daada91c-9173-4cf9-a78f-555f7d7e1aa5" providerId="ADAL" clId="{A8CAC1B1-1B5B-434C-9E5F-ED85875A3A22}" dt="2026-06-22T15:12:22.745" v="140" actId="299"/>
        <pc:sldMkLst>
          <pc:docMk/>
          <pc:sldMk cId="3999182423" sldId="2147473197"/>
        </pc:sldMkLst>
        <pc:spChg chg="mod">
          <ac:chgData name="Sylvan Shank" userId="daada91c-9173-4cf9-a78f-555f7d7e1aa5" providerId="ADAL" clId="{A8CAC1B1-1B5B-434C-9E5F-ED85875A3A22}" dt="2026-06-22T15:12:22.745" v="140" actId="299"/>
          <ac:spMkLst>
            <pc:docMk/>
            <pc:sldMk cId="3999182423" sldId="2147473197"/>
            <ac:spMk id="2" creationId="{348A198F-35AE-309F-3A52-D0828EFB1C18}"/>
          </ac:spMkLst>
        </pc:spChg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3999182423" sldId="2147473197"/>
            <ac:spMk id="4" creationId="{2248B18C-3DB6-C4BA-16CB-46813D71DB3A}"/>
          </ac:spMkLst>
        </pc:spChg>
        <pc:spChg chg="mod">
          <ac:chgData name="Sylvan Shank" userId="daada91c-9173-4cf9-a78f-555f7d7e1aa5" providerId="ADAL" clId="{A8CAC1B1-1B5B-434C-9E5F-ED85875A3A22}" dt="2026-06-22T15:12:22.523" v="118"/>
          <ac:spMkLst>
            <pc:docMk/>
            <pc:sldMk cId="3999182423" sldId="2147473197"/>
            <ac:spMk id="6" creationId="{6C2434A0-86C7-DD25-C199-C296C03EDD0B}"/>
          </ac:spMkLst>
        </pc:spChg>
        <pc:spChg chg="mod">
          <ac:chgData name="Sylvan Shank" userId="daada91c-9173-4cf9-a78f-555f7d7e1aa5" providerId="ADAL" clId="{A8CAC1B1-1B5B-434C-9E5F-ED85875A3A22}" dt="2026-06-22T15:12:22.590" v="123"/>
          <ac:spMkLst>
            <pc:docMk/>
            <pc:sldMk cId="3999182423" sldId="2147473197"/>
            <ac:spMk id="10" creationId="{97BE9BE6-DE82-2918-6FC9-0A9BAA790BF1}"/>
          </ac:spMkLst>
        </pc:spChg>
        <pc:spChg chg="mod">
          <ac:chgData name="Sylvan Shank" userId="daada91c-9173-4cf9-a78f-555f7d7e1aa5" providerId="ADAL" clId="{A8CAC1B1-1B5B-434C-9E5F-ED85875A3A22}" dt="2026-06-22T15:12:22.598" v="124"/>
          <ac:spMkLst>
            <pc:docMk/>
            <pc:sldMk cId="3999182423" sldId="2147473197"/>
            <ac:spMk id="11" creationId="{ACC96DD9-D6CD-196F-1559-8440BFC2D706}"/>
          </ac:spMkLst>
        </pc:spChg>
        <pc:spChg chg="mod">
          <ac:chgData name="Sylvan Shank" userId="daada91c-9173-4cf9-a78f-555f7d7e1aa5" providerId="ADAL" clId="{A8CAC1B1-1B5B-434C-9E5F-ED85875A3A22}" dt="2026-06-22T15:12:22.547" v="119"/>
          <ac:spMkLst>
            <pc:docMk/>
            <pc:sldMk cId="3999182423" sldId="2147473197"/>
            <ac:spMk id="24" creationId="{170EFA2F-5FBD-08CF-AACB-E50792181BC0}"/>
          </ac:spMkLst>
        </pc:spChg>
        <pc:spChg chg="mod">
          <ac:chgData name="Sylvan Shank" userId="daada91c-9173-4cf9-a78f-555f7d7e1aa5" providerId="ADAL" clId="{A8CAC1B1-1B5B-434C-9E5F-ED85875A3A22}" dt="2026-06-22T15:12:22.555" v="120"/>
          <ac:spMkLst>
            <pc:docMk/>
            <pc:sldMk cId="3999182423" sldId="2147473197"/>
            <ac:spMk id="27" creationId="{0956DC2E-8496-5FAC-D7EA-536DFEA98B34}"/>
          </ac:spMkLst>
        </pc:spChg>
        <pc:spChg chg="mod">
          <ac:chgData name="Sylvan Shank" userId="daada91c-9173-4cf9-a78f-555f7d7e1aa5" providerId="ADAL" clId="{A8CAC1B1-1B5B-434C-9E5F-ED85875A3A22}" dt="2026-06-22T15:12:22.562" v="121"/>
          <ac:spMkLst>
            <pc:docMk/>
            <pc:sldMk cId="3999182423" sldId="2147473197"/>
            <ac:spMk id="28" creationId="{5EC6747C-EA15-9FBB-7782-493D0BAAFA0D}"/>
          </ac:spMkLst>
        </pc:spChg>
        <pc:spChg chg="mod">
          <ac:chgData name="Sylvan Shank" userId="daada91c-9173-4cf9-a78f-555f7d7e1aa5" providerId="ADAL" clId="{A8CAC1B1-1B5B-434C-9E5F-ED85875A3A22}" dt="2026-06-22T15:12:22.568" v="122"/>
          <ac:spMkLst>
            <pc:docMk/>
            <pc:sldMk cId="3999182423" sldId="2147473197"/>
            <ac:spMk id="29" creationId="{02A56DA6-EFFE-45CC-402D-1DD62578B99E}"/>
          </ac:spMkLst>
        </pc:spChg>
      </pc:sldChg>
      <pc:sldChg chg="modSp mod">
        <pc:chgData name="Sylvan Shank" userId="daada91c-9173-4cf9-a78f-555f7d7e1aa5" providerId="ADAL" clId="{A8CAC1B1-1B5B-434C-9E5F-ED85875A3A22}" dt="2026-06-22T15:12:22.711" v="131" actId="299"/>
        <pc:sldMkLst>
          <pc:docMk/>
          <pc:sldMk cId="685017087" sldId="2147483513"/>
        </pc:sldMkLst>
        <pc:spChg chg="mod">
          <ac:chgData name="Sylvan Shank" userId="daada91c-9173-4cf9-a78f-555f7d7e1aa5" providerId="ADAL" clId="{A8CAC1B1-1B5B-434C-9E5F-ED85875A3A22}" dt="2026-06-22T15:07:28.727" v="66"/>
          <ac:spMkLst>
            <pc:docMk/>
            <pc:sldMk cId="685017087" sldId="2147483513"/>
            <ac:spMk id="4" creationId="{C373A866-A144-19B5-AE51-B395509880BB}"/>
          </ac:spMkLst>
        </pc:spChg>
        <pc:spChg chg="mod">
          <ac:chgData name="Sylvan Shank" userId="daada91c-9173-4cf9-a78f-555f7d7e1aa5" providerId="ADAL" clId="{A8CAC1B1-1B5B-434C-9E5F-ED85875A3A22}" dt="2026-06-22T15:12:22.090" v="96"/>
          <ac:spMkLst>
            <pc:docMk/>
            <pc:sldMk cId="685017087" sldId="2147483513"/>
            <ac:spMk id="6" creationId="{92F851DC-E7CC-7F68-7403-42ED35227249}"/>
          </ac:spMkLst>
        </pc:spChg>
        <pc:spChg chg="mod">
          <ac:chgData name="Sylvan Shank" userId="daada91c-9173-4cf9-a78f-555f7d7e1aa5" providerId="ADAL" clId="{A8CAC1B1-1B5B-434C-9E5F-ED85875A3A22}" dt="2026-06-22T15:12:22.711" v="131" actId="299"/>
          <ac:spMkLst>
            <pc:docMk/>
            <pc:sldMk cId="685017087" sldId="2147483513"/>
            <ac:spMk id="8" creationId="{E3054AB6-16A1-FD50-AA35-2A0E48FDD94E}"/>
          </ac:spMkLst>
        </pc:spChg>
        <pc:graphicFrameChg chg="mod">
          <ac:chgData name="Sylvan Shank" userId="daada91c-9173-4cf9-a78f-555f7d7e1aa5" providerId="ADAL" clId="{A8CAC1B1-1B5B-434C-9E5F-ED85875A3A22}" dt="2026-06-22T15:12:22.068" v="95"/>
          <ac:graphicFrameMkLst>
            <pc:docMk/>
            <pc:sldMk cId="685017087" sldId="2147483513"/>
            <ac:graphicFrameMk id="7" creationId="{0C1E7AE7-5D23-BC5E-4F7E-1A8D7828AFED}"/>
          </ac:graphicFrameMkLst>
        </pc:graphicFrameChg>
      </pc:sldChg>
      <pc:sldChg chg="modSp">
        <pc:chgData name="Sylvan Shank" userId="daada91c-9173-4cf9-a78f-555f7d7e1aa5" providerId="ADAL" clId="{A8CAC1B1-1B5B-434C-9E5F-ED85875A3A22}" dt="2026-06-22T15:12:21.877" v="91"/>
        <pc:sldMkLst>
          <pc:docMk/>
          <pc:sldMk cId="3805552095" sldId="2147483645"/>
        </pc:sldMkLst>
        <pc:spChg chg="mod">
          <ac:chgData name="Sylvan Shank" userId="daada91c-9173-4cf9-a78f-555f7d7e1aa5" providerId="ADAL" clId="{A8CAC1B1-1B5B-434C-9E5F-ED85875A3A22}" dt="2026-06-22T15:12:21.877" v="91"/>
          <ac:spMkLst>
            <pc:docMk/>
            <pc:sldMk cId="3805552095" sldId="2147483645"/>
            <ac:spMk id="2" creationId="{62CA9D95-279F-E6E6-9D9B-1998EC545B09}"/>
          </ac:spMkLst>
        </pc:spChg>
      </pc:sldChg>
      <pc:sldMasterChg chg="addSp modSp mod">
        <pc:chgData name="Sylvan Shank" userId="daada91c-9173-4cf9-a78f-555f7d7e1aa5" providerId="ADAL" clId="{A8CAC1B1-1B5B-434C-9E5F-ED85875A3A22}" dt="2026-06-22T14:52:50.718" v="21"/>
        <pc:sldMasterMkLst>
          <pc:docMk/>
          <pc:sldMasterMk cId="1382742811" sldId="2147483648"/>
        </pc:sldMasterMkLst>
        <pc:spChg chg="mod">
          <ac:chgData name="Sylvan Shank" userId="daada91c-9173-4cf9-a78f-555f7d7e1aa5" providerId="ADAL" clId="{A8CAC1B1-1B5B-434C-9E5F-ED85875A3A22}" dt="2026-06-22T14:52:50.687" v="7" actId="299"/>
          <ac:spMkLst>
            <pc:docMk/>
            <pc:sldMasterMk cId="1382742811" sldId="2147483648"/>
            <ac:spMk id="2" creationId="{D6CCFB5A-9230-0BA9-6501-E2FBCF743F1F}"/>
          </ac:spMkLst>
        </pc:spChg>
        <pc:graphicFrameChg chg="add mod ord modVis">
          <ac:chgData name="Sylvan Shank" userId="daada91c-9173-4cf9-a78f-555f7d7e1aa5" providerId="ADAL" clId="{A8CAC1B1-1B5B-434C-9E5F-ED85875A3A22}" dt="2026-06-22T14:52:50.718" v="21"/>
          <ac:graphicFrameMkLst>
            <pc:docMk/>
            <pc:sldMasterMk cId="1382742811" sldId="2147483648"/>
            <ac:graphicFrameMk id="7" creationId="{D6951873-D721-1E21-BE4B-1995BCF8279E}"/>
          </ac:graphicFrameMkLst>
        </pc:graphicFrameChg>
      </pc:sldMasterChg>
      <pc:sldMasterChg chg="addSp modSldLayout">
        <pc:chgData name="Sylvan Shank" userId="daada91c-9173-4cf9-a78f-555f7d7e1aa5" providerId="ADAL" clId="{A8CAC1B1-1B5B-434C-9E5F-ED85875A3A22}" dt="2026-06-22T15:07:28.727" v="66"/>
        <pc:sldMasterMkLst>
          <pc:docMk/>
          <pc:sldMasterMk cId="805581702" sldId="2147483665"/>
        </pc:sldMasterMkLst>
        <pc:graphicFrameChg chg="add">
          <ac:chgData name="Sylvan Shank" userId="daada91c-9173-4cf9-a78f-555f7d7e1aa5" providerId="ADAL" clId="{A8CAC1B1-1B5B-434C-9E5F-ED85875A3A22}" dt="2026-06-22T15:07:28.727" v="66"/>
          <ac:graphicFrameMkLst>
            <pc:docMk/>
            <pc:sldMasterMk cId="805581702" sldId="2147483665"/>
            <ac:graphicFrameMk id="3" creationId="{AF2ACCE1-CF29-B232-2DCD-A39855B4D069}"/>
          </ac:graphicFrameMkLst>
        </pc:graphicFrameChg>
        <pc:sldLayoutChg chg="addSp">
          <pc:chgData name="Sylvan Shank" userId="daada91c-9173-4cf9-a78f-555f7d7e1aa5" providerId="ADAL" clId="{A8CAC1B1-1B5B-434C-9E5F-ED85875A3A22}" dt="2026-06-22T15:07:28.727" v="66"/>
          <pc:sldLayoutMkLst>
            <pc:docMk/>
            <pc:sldMasterMk cId="805581702" sldId="2147483665"/>
            <pc:sldLayoutMk cId="674485640" sldId="2147483666"/>
          </pc:sldLayoutMkLst>
          <pc:spChg chg="add">
            <ac:chgData name="Sylvan Shank" userId="daada91c-9173-4cf9-a78f-555f7d7e1aa5" providerId="ADAL" clId="{A8CAC1B1-1B5B-434C-9E5F-ED85875A3A22}" dt="2026-06-22T15:07:28.727" v="66"/>
            <ac:spMkLst>
              <pc:docMk/>
              <pc:sldMasterMk cId="805581702" sldId="2147483665"/>
              <pc:sldLayoutMk cId="674485640" sldId="2147483666"/>
              <ac:spMk id="8" creationId="{7BF5ABB3-60CC-5755-0AB2-AD707D7E9137}"/>
            </ac:spMkLst>
          </pc:spChg>
          <pc:graphicFrameChg chg="add">
            <ac:chgData name="Sylvan Shank" userId="daada91c-9173-4cf9-a78f-555f7d7e1aa5" providerId="ADAL" clId="{A8CAC1B1-1B5B-434C-9E5F-ED85875A3A22}" dt="2026-06-22T15:07:28.727" v="66"/>
            <ac:graphicFrameMkLst>
              <pc:docMk/>
              <pc:sldMasterMk cId="805581702" sldId="2147483665"/>
              <pc:sldLayoutMk cId="674485640" sldId="2147483666"/>
              <ac:graphicFrameMk id="4" creationId="{0876E275-B098-A8E4-ECD6-D399C2BB0F97}"/>
            </ac:graphicFrameMkLst>
          </pc:graphicFrame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674485640" sldId="2147483666"/>
              <ac:picMk id="7" creationId="{80FA1997-1B81-FCDA-D914-8C182FC08E8F}"/>
            </ac:picMkLst>
          </pc:pic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674485640" sldId="2147483666"/>
              <ac:picMk id="9" creationId="{D3231406-4477-B736-3B58-43B3EEE8F902}"/>
            </ac:picMkLst>
          </pc:picChg>
        </pc:sldLayoutChg>
        <pc:sldLayoutChg chg="addSp">
          <pc:chgData name="Sylvan Shank" userId="daada91c-9173-4cf9-a78f-555f7d7e1aa5" providerId="ADAL" clId="{A8CAC1B1-1B5B-434C-9E5F-ED85875A3A22}" dt="2026-06-22T15:07:28.727" v="66"/>
          <pc:sldLayoutMkLst>
            <pc:docMk/>
            <pc:sldMasterMk cId="805581702" sldId="2147483665"/>
            <pc:sldLayoutMk cId="1771675578" sldId="2147483667"/>
          </pc:sldLayoutMkLst>
          <pc:spChg chg="add">
            <ac:chgData name="Sylvan Shank" userId="daada91c-9173-4cf9-a78f-555f7d7e1aa5" providerId="ADAL" clId="{A8CAC1B1-1B5B-434C-9E5F-ED85875A3A22}" dt="2026-06-22T15:07:28.727" v="66"/>
            <ac:spMkLst>
              <pc:docMk/>
              <pc:sldMasterMk cId="805581702" sldId="2147483665"/>
              <pc:sldLayoutMk cId="1771675578" sldId="2147483667"/>
              <ac:spMk id="6" creationId="{A28A5DFD-11B7-2700-76B3-F915C4ECAC89}"/>
            </ac:spMkLst>
          </pc:spChg>
          <pc:graphicFrameChg chg="add">
            <ac:chgData name="Sylvan Shank" userId="daada91c-9173-4cf9-a78f-555f7d7e1aa5" providerId="ADAL" clId="{A8CAC1B1-1B5B-434C-9E5F-ED85875A3A22}" dt="2026-06-22T15:07:28.727" v="66"/>
            <ac:graphicFrameMkLst>
              <pc:docMk/>
              <pc:sldMasterMk cId="805581702" sldId="2147483665"/>
              <pc:sldLayoutMk cId="1771675578" sldId="2147483667"/>
              <ac:graphicFrameMk id="2" creationId="{54424B10-F37E-1502-F501-E7D34C6D8E7E}"/>
            </ac:graphicFrameMkLst>
          </pc:graphicFrame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1771675578" sldId="2147483667"/>
              <ac:picMk id="4" creationId="{EA99F0D6-62F8-EFAB-C5F4-15512F0FC298}"/>
            </ac:picMkLst>
          </pc:pic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1771675578" sldId="2147483667"/>
              <ac:picMk id="9" creationId="{A4A48D7E-0280-0E5D-0013-3FE3E2C71345}"/>
            </ac:picMkLst>
          </pc:picChg>
        </pc:sldLayoutChg>
        <pc:sldLayoutChg chg="addSp">
          <pc:chgData name="Sylvan Shank" userId="daada91c-9173-4cf9-a78f-555f7d7e1aa5" providerId="ADAL" clId="{A8CAC1B1-1B5B-434C-9E5F-ED85875A3A22}" dt="2026-06-22T15:07:28.727" v="66"/>
          <pc:sldLayoutMkLst>
            <pc:docMk/>
            <pc:sldMasterMk cId="805581702" sldId="2147483665"/>
            <pc:sldLayoutMk cId="1154357712" sldId="2147483671"/>
          </pc:sldLayoutMkLst>
          <pc:graphicFrameChg chg="add">
            <ac:chgData name="Sylvan Shank" userId="daada91c-9173-4cf9-a78f-555f7d7e1aa5" providerId="ADAL" clId="{A8CAC1B1-1B5B-434C-9E5F-ED85875A3A22}" dt="2026-06-22T15:07:28.727" v="66"/>
            <ac:graphicFrameMkLst>
              <pc:docMk/>
              <pc:sldMasterMk cId="805581702" sldId="2147483665"/>
              <pc:sldLayoutMk cId="1154357712" sldId="2147483671"/>
              <ac:graphicFrameMk id="2" creationId="{96E98C3B-1B47-2881-8706-21BC28FE2E55}"/>
            </ac:graphicFrameMkLst>
          </pc:graphicFrameChg>
          <pc:cxnChg chg="add">
            <ac:chgData name="Sylvan Shank" userId="daada91c-9173-4cf9-a78f-555f7d7e1aa5" providerId="ADAL" clId="{A8CAC1B1-1B5B-434C-9E5F-ED85875A3A22}" dt="2026-06-22T15:07:28.727" v="66"/>
            <ac:cxnSpMkLst>
              <pc:docMk/>
              <pc:sldMasterMk cId="805581702" sldId="2147483665"/>
              <pc:sldLayoutMk cId="1154357712" sldId="2147483671"/>
              <ac:cxnSpMk id="3" creationId="{0534F663-538B-530E-6256-46BF0C439F5B}"/>
            </ac:cxnSpMkLst>
          </pc:cxnChg>
        </pc:sldLayoutChg>
        <pc:sldLayoutChg chg="addSp">
          <pc:chgData name="Sylvan Shank" userId="daada91c-9173-4cf9-a78f-555f7d7e1aa5" providerId="ADAL" clId="{A8CAC1B1-1B5B-434C-9E5F-ED85875A3A22}" dt="2026-06-22T15:07:28.727" v="66"/>
          <pc:sldLayoutMkLst>
            <pc:docMk/>
            <pc:sldMasterMk cId="805581702" sldId="2147483665"/>
            <pc:sldLayoutMk cId="718116993" sldId="2147483672"/>
          </pc:sldLayoutMkLst>
          <pc:spChg chg="add">
            <ac:chgData name="Sylvan Shank" userId="daada91c-9173-4cf9-a78f-555f7d7e1aa5" providerId="ADAL" clId="{A8CAC1B1-1B5B-434C-9E5F-ED85875A3A22}" dt="2026-06-22T15:07:28.727" v="66"/>
            <ac:spMkLst>
              <pc:docMk/>
              <pc:sldMasterMk cId="805581702" sldId="2147483665"/>
              <pc:sldLayoutMk cId="718116993" sldId="2147483672"/>
              <ac:spMk id="4" creationId="{A3E8D854-4266-C8B1-7934-D1DA860A9329}"/>
            </ac:spMkLst>
          </pc:spChg>
          <pc:graphicFrameChg chg="add">
            <ac:chgData name="Sylvan Shank" userId="daada91c-9173-4cf9-a78f-555f7d7e1aa5" providerId="ADAL" clId="{A8CAC1B1-1B5B-434C-9E5F-ED85875A3A22}" dt="2026-06-22T15:07:28.727" v="66"/>
            <ac:graphicFrameMkLst>
              <pc:docMk/>
              <pc:sldMasterMk cId="805581702" sldId="2147483665"/>
              <pc:sldLayoutMk cId="718116993" sldId="2147483672"/>
              <ac:graphicFrameMk id="3" creationId="{BB58DF9A-2728-899F-6B36-C6F6C0BD959E}"/>
            </ac:graphicFrameMkLst>
          </pc:graphicFrameChg>
        </pc:sldLayoutChg>
        <pc:sldLayoutChg chg="addSp">
          <pc:chgData name="Sylvan Shank" userId="daada91c-9173-4cf9-a78f-555f7d7e1aa5" providerId="ADAL" clId="{A8CAC1B1-1B5B-434C-9E5F-ED85875A3A22}" dt="2026-06-22T15:07:28.727" v="66"/>
          <pc:sldLayoutMkLst>
            <pc:docMk/>
            <pc:sldMasterMk cId="805581702" sldId="2147483665"/>
            <pc:sldLayoutMk cId="713242567" sldId="2147483680"/>
          </pc:sldLayoutMkLst>
          <pc:spChg chg="add">
            <ac:chgData name="Sylvan Shank" userId="daada91c-9173-4cf9-a78f-555f7d7e1aa5" providerId="ADAL" clId="{A8CAC1B1-1B5B-434C-9E5F-ED85875A3A22}" dt="2026-06-22T15:07:28.727" v="66"/>
            <ac:spMkLst>
              <pc:docMk/>
              <pc:sldMasterMk cId="805581702" sldId="2147483665"/>
              <pc:sldLayoutMk cId="713242567" sldId="2147483680"/>
              <ac:spMk id="10" creationId="{7F5C8311-677D-BAB1-118A-A1786059C4C2}"/>
            </ac:spMkLst>
          </pc:spChg>
          <pc:spChg chg="add">
            <ac:chgData name="Sylvan Shank" userId="daada91c-9173-4cf9-a78f-555f7d7e1aa5" providerId="ADAL" clId="{A8CAC1B1-1B5B-434C-9E5F-ED85875A3A22}" dt="2026-06-22T15:07:28.727" v="66"/>
            <ac:spMkLst>
              <pc:docMk/>
              <pc:sldMasterMk cId="805581702" sldId="2147483665"/>
              <pc:sldLayoutMk cId="713242567" sldId="2147483680"/>
              <ac:spMk id="14" creationId="{AECA1709-5B30-FCB1-63C8-05B58082167C}"/>
            </ac:spMkLst>
          </pc:spChg>
          <pc:graphicFrameChg chg="add">
            <ac:chgData name="Sylvan Shank" userId="daada91c-9173-4cf9-a78f-555f7d7e1aa5" providerId="ADAL" clId="{A8CAC1B1-1B5B-434C-9E5F-ED85875A3A22}" dt="2026-06-22T15:07:28.727" v="66"/>
            <ac:graphicFrameMkLst>
              <pc:docMk/>
              <pc:sldMasterMk cId="805581702" sldId="2147483665"/>
              <pc:sldLayoutMk cId="713242567" sldId="2147483680"/>
              <ac:graphicFrameMk id="7" creationId="{18BA2871-3D1A-BCC8-9150-6179F76A827F}"/>
            </ac:graphicFrameMkLst>
          </pc:graphicFrame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713242567" sldId="2147483680"/>
              <ac:picMk id="13" creationId="{EB747B5D-36DA-FC28-15EB-F0F6BE18F136}"/>
            </ac:picMkLst>
          </pc:picChg>
          <pc:picChg chg="add">
            <ac:chgData name="Sylvan Shank" userId="daada91c-9173-4cf9-a78f-555f7d7e1aa5" providerId="ADAL" clId="{A8CAC1B1-1B5B-434C-9E5F-ED85875A3A22}" dt="2026-06-22T15:07:28.727" v="66"/>
            <ac:picMkLst>
              <pc:docMk/>
              <pc:sldMasterMk cId="805581702" sldId="2147483665"/>
              <pc:sldLayoutMk cId="713242567" sldId="2147483680"/>
              <ac:picMk id="16" creationId="{01B3676B-C100-A1CC-A486-EC8A6A864251}"/>
            </ac:picMkLst>
          </pc:picChg>
          <pc:cxnChg chg="add">
            <ac:chgData name="Sylvan Shank" userId="daada91c-9173-4cf9-a78f-555f7d7e1aa5" providerId="ADAL" clId="{A8CAC1B1-1B5B-434C-9E5F-ED85875A3A22}" dt="2026-06-22T15:07:28.727" v="66"/>
            <ac:cxnSpMkLst>
              <pc:docMk/>
              <pc:sldMasterMk cId="805581702" sldId="2147483665"/>
              <pc:sldLayoutMk cId="713242567" sldId="2147483680"/>
              <ac:cxnSpMk id="11" creationId="{C8EB3527-F301-491F-E832-0A28A2F65BB4}"/>
            </ac:cxnSpMkLst>
          </pc:cxnChg>
          <pc:cxnChg chg="add">
            <ac:chgData name="Sylvan Shank" userId="daada91c-9173-4cf9-a78f-555f7d7e1aa5" providerId="ADAL" clId="{A8CAC1B1-1B5B-434C-9E5F-ED85875A3A22}" dt="2026-06-22T15:07:28.727" v="66"/>
            <ac:cxnSpMkLst>
              <pc:docMk/>
              <pc:sldMasterMk cId="805581702" sldId="2147483665"/>
              <pc:sldLayoutMk cId="713242567" sldId="2147483680"/>
              <ac:cxnSpMk id="12" creationId="{A12B941B-7C2A-21A3-494E-19AA3F873EA6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610D6-CDBF-4156-902D-4BDE828FC21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0C6B9-CC4C-4DF4-804B-5B4ED5EC3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EB7C1-A6E8-2A8E-99A7-BBC9588B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D08D0-9232-201F-E7F7-2B45D4572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5EE07-6731-E9A7-471F-B7CA64AEF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921A-970F-BEA4-F1F9-BB6EEE5E4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14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E185-465B-34B4-2FBE-6C48918D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CC00A-043E-3B96-B2BF-298B68F8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68BD5-F289-C6C1-69F5-A8ED4419F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B4313-A8D6-B6B1-BFA7-ECB4600AB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77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8.tiff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6" Type="http://schemas.openxmlformats.org/officeDocument/2006/relationships/image" Target="../media/image4.png"/><Relationship Id="rId5" Type="http://schemas.openxmlformats.org/officeDocument/2006/relationships/image" Target="../media/image10.jpe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Relationship Id="rId5" Type="http://schemas.openxmlformats.org/officeDocument/2006/relationships/image" Target="../media/image8.tiff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2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8A5ECE0-3DC2-817F-20D2-D2A9F1AFB6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6126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A5ECE0-3DC2-817F-20D2-D2A9F1AFB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9C918351-CB12-4B15-875A-AA137536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28" y="4412430"/>
            <a:ext cx="8091055" cy="699772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731F10-2F5C-420E-942F-C2EE8038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28" y="5282266"/>
            <a:ext cx="8091055" cy="5629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 descr="Newry_withtagline.png">
            <a:extLst>
              <a:ext uri="{FF2B5EF4-FFF2-40B4-BE49-F238E27FC236}">
                <a16:creationId xmlns:a16="http://schemas.microsoft.com/office/drawing/2014/main" id="{CCD8A712-545B-A7C7-E88D-26D497E3B8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80"/>
          <a:stretch/>
        </p:blipFill>
        <p:spPr>
          <a:xfrm>
            <a:off x="9539555" y="5817809"/>
            <a:ext cx="2308758" cy="529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07135-FB17-5650-5734-577B7432E002}"/>
              </a:ext>
            </a:extLst>
          </p:cNvPr>
          <p:cNvSpPr txBox="1"/>
          <p:nvPr/>
        </p:nvSpPr>
        <p:spPr>
          <a:xfrm>
            <a:off x="9539555" y="6347637"/>
            <a:ext cx="230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PRIVATE &amp; CONFIDENTIAL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69B93AF-D52C-CAE1-C7E4-3E7BEFA32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128" y="6193747"/>
            <a:ext cx="3391094" cy="307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8" name="Picture 17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AA2F592A-8FA8-7BF1-490B-E5338C3A4D7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18079" r="16079" b="11741"/>
          <a:stretch/>
        </p:blipFill>
        <p:spPr>
          <a:xfrm>
            <a:off x="0" y="0"/>
            <a:ext cx="12192000" cy="3914274"/>
          </a:xfrm>
          <a:prstGeom prst="rect">
            <a:avLst/>
          </a:prstGeom>
        </p:spPr>
      </p:pic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76E275-B098-A8E4-ECD6-D399C2BB0F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6126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76E275-B098-A8E4-ECD6-D399C2BB0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Newry_withtagline.png">
            <a:extLst>
              <a:ext uri="{FF2B5EF4-FFF2-40B4-BE49-F238E27FC236}">
                <a16:creationId xmlns:a16="http://schemas.microsoft.com/office/drawing/2014/main" id="{80FA1997-1B81-FCDA-D914-8C182FC08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80"/>
          <a:stretch/>
        </p:blipFill>
        <p:spPr>
          <a:xfrm>
            <a:off x="9539555" y="5817809"/>
            <a:ext cx="2308758" cy="529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F5ABB3-60CC-5755-0AB2-AD707D7E9137}"/>
              </a:ext>
            </a:extLst>
          </p:cNvPr>
          <p:cNvSpPr txBox="1"/>
          <p:nvPr userDrawn="1"/>
        </p:nvSpPr>
        <p:spPr>
          <a:xfrm>
            <a:off x="9539555" y="6347637"/>
            <a:ext cx="230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PRIVATE &amp; CONFIDENTIAL</a:t>
            </a:r>
          </a:p>
        </p:txBody>
      </p:sp>
      <p:pic>
        <p:nvPicPr>
          <p:cNvPr id="9" name="Picture 8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D3231406-4477-B736-3B58-43B3EEE8F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18079" r="16079" b="11741"/>
          <a:stretch/>
        </p:blipFill>
        <p:spPr>
          <a:xfrm>
            <a:off x="0" y="0"/>
            <a:ext cx="12192000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8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41E2B2-916E-1620-E6D4-23A95CE3B4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3568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1E2B2-916E-1620-E6D4-23A95CE3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901E710E-DE9C-2B82-E370-4E6605A1EC0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11496" b="103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50676-9D25-9888-1719-C6CB072A887E}"/>
              </a:ext>
            </a:extLst>
          </p:cNvPr>
          <p:cNvSpPr/>
          <p:nvPr/>
        </p:nvSpPr>
        <p:spPr>
          <a:xfrm>
            <a:off x="0" y="4166937"/>
            <a:ext cx="12192000" cy="1505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658B082-7695-9150-A7C0-92375A81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454772"/>
            <a:ext cx="11430000" cy="92394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8E4BDE28-C7E9-EC23-0406-02DD0B1D631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0"/>
          <a:stretch/>
        </p:blipFill>
        <p:spPr>
          <a:xfrm>
            <a:off x="9866769" y="6220619"/>
            <a:ext cx="2129852" cy="475099"/>
          </a:xfrm>
          <a:prstGeom prst="rect">
            <a:avLst/>
          </a:prstGeom>
        </p:spPr>
      </p:pic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424B10-F37E-1502-F501-E7D34C6D8E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3568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424B10-F37E-1502-F501-E7D34C6D8E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EA99F0D6-62F8-EFAB-C5F4-15512F0FC2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11496" b="103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8A5DFD-11B7-2700-76B3-F915C4ECAC89}"/>
              </a:ext>
            </a:extLst>
          </p:cNvPr>
          <p:cNvSpPr/>
          <p:nvPr userDrawn="1"/>
        </p:nvSpPr>
        <p:spPr>
          <a:xfrm>
            <a:off x="0" y="4166937"/>
            <a:ext cx="12192000" cy="1505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A4A48D7E-0280-0E5D-0013-3FE3E2C713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0"/>
          <a:stretch/>
        </p:blipFill>
        <p:spPr>
          <a:xfrm>
            <a:off x="9866769" y="6220619"/>
            <a:ext cx="2129852" cy="4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7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0655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/>
        </p:nvSpPr>
        <p:spPr>
          <a:xfrm>
            <a:off x="0" y="0"/>
            <a:ext cx="461309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6388" y="1892595"/>
            <a:ext cx="7074612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5704"/>
            <a:ext cx="3893048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C4E7B-D01F-BB1C-6BAC-8890CDD26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28" y="1858237"/>
            <a:ext cx="12192000" cy="52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52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ground and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FCD4DF4-1CAA-044B-9ED5-1B73AEF989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2463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D4DF4-1CAA-044B-9ED5-1B73AEF989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42ACF36-1969-C3FD-CBDF-753C21155293}"/>
              </a:ext>
            </a:extLst>
          </p:cNvPr>
          <p:cNvSpPr/>
          <p:nvPr/>
        </p:nvSpPr>
        <p:spPr>
          <a:xfrm>
            <a:off x="6301555" y="1107239"/>
            <a:ext cx="5486400" cy="5258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09186-1B19-C122-E55C-3C0EFF19FA95}"/>
              </a:ext>
            </a:extLst>
          </p:cNvPr>
          <p:cNvSpPr/>
          <p:nvPr/>
        </p:nvSpPr>
        <p:spPr>
          <a:xfrm>
            <a:off x="377651" y="1107239"/>
            <a:ext cx="5501836" cy="5258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DF3101-29A4-67D1-62A0-75AF3C17E0E6}"/>
              </a:ext>
            </a:extLst>
          </p:cNvPr>
          <p:cNvCxnSpPr>
            <a:cxnSpLocks/>
          </p:cNvCxnSpPr>
          <p:nvPr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15BAC3F-3EB9-C995-6E47-ADAB6C36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60929"/>
            <a:ext cx="11406955" cy="774017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FA2A22F-AA77-5D52-7AE9-5255DCC8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439736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0BD561B-1132-92E3-2047-5DEB6380E6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9791" y="1496604"/>
            <a:ext cx="5480903" cy="486902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B3C0793-0440-A5E8-1D12-03E9E21DC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9791" y="1107239"/>
            <a:ext cx="5480904" cy="3065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BACKGROUND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96534BF-0278-FDAD-01B4-91313E53A4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1555" y="1111331"/>
            <a:ext cx="5486400" cy="3024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OBJECTIVES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788CD02-6718-5D01-DE5D-00843DA60A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8181" y="1496599"/>
            <a:ext cx="5479774" cy="486902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11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E9EDEA-A558-0897-372C-00462C8B12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999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E9EDEA-A558-0897-372C-00462C8B1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7993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3628"/>
            <a:ext cx="11415765" cy="483551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5B22B-0FB3-B2D0-6CB2-306782767A36}"/>
              </a:ext>
            </a:extLst>
          </p:cNvPr>
          <p:cNvSpPr/>
          <p:nvPr/>
        </p:nvSpPr>
        <p:spPr>
          <a:xfrm>
            <a:off x="0" y="6103088"/>
            <a:ext cx="12192000" cy="754912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03B2C28-6825-22F6-D64A-D678EBD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22773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4B2CE3A-E71E-7684-7D73-B470F97175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264823"/>
            <a:ext cx="10946004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C72577-658E-4D0C-D83D-DAE04B299F98}"/>
              </a:ext>
            </a:extLst>
          </p:cNvPr>
          <p:cNvCxnSpPr>
            <a:cxnSpLocks/>
          </p:cNvCxnSpPr>
          <p:nvPr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38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5038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6637"/>
            <a:ext cx="11415765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99" y="6307355"/>
            <a:ext cx="1091077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F7293-0224-05BF-D733-19F156C60FFF}"/>
              </a:ext>
            </a:extLst>
          </p:cNvPr>
          <p:cNvCxnSpPr>
            <a:cxnSpLocks/>
          </p:cNvCxnSpPr>
          <p:nvPr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6E98C3B-1B47-2881-8706-21BC28FE2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E98C3B-1B47-2881-8706-21BC28FE2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34F663-538B-530E-6256-46BF0C439F5B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35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40">
          <p15:clr>
            <a:srgbClr val="FBAE40"/>
          </p15:clr>
        </p15:guide>
        <p15:guide id="3" pos="74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9FEF2BE-6A72-EF47-C147-95FE769CB6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FEF2BE-6A72-EF47-C147-95FE769CB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4405"/>
            <a:ext cx="11415764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502044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B58DF9A-2728-899F-6B36-C6F6C0BD959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8DF9A-2728-899F-6B36-C6F6C0BD95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3E8D854-4266-C8B1-7934-D1DA860A9329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11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# 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D29F9A-1DAE-6201-701C-92563ED26B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74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29F9A-1DAE-6201-701C-92563ED26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2" y="74405"/>
            <a:ext cx="10724102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8876" y="6317988"/>
            <a:ext cx="1095479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64111"/>
            <a:ext cx="11415765" cy="495943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C4AAB9-CF17-4A20-05FC-0E5EBECBC467}"/>
              </a:ext>
            </a:extLst>
          </p:cNvPr>
          <p:cNvSpPr/>
          <p:nvPr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B19414-A55B-8382-5EDB-D36FFFA026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716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# 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582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1" y="85038"/>
            <a:ext cx="10724103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5" y="1116637"/>
            <a:ext cx="11419079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307355"/>
            <a:ext cx="1091410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E32D75-52F5-F1D0-D24F-1EF5ADB1883E}"/>
              </a:ext>
            </a:extLst>
          </p:cNvPr>
          <p:cNvSpPr/>
          <p:nvPr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60450DC-D332-7C0F-F290-0A1C32F42D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26B1A2-C0F7-84FC-D538-95C9BFCBD0BE}"/>
              </a:ext>
            </a:extLst>
          </p:cNvPr>
          <p:cNvCxnSpPr>
            <a:cxnSpLocks/>
          </p:cNvCxnSpPr>
          <p:nvPr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90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8E1B75A-A3C6-0F97-7892-0BE705856D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676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E1B75A-A3C6-0F97-7892-0BE705856D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-1"/>
            <a:ext cx="9988062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394"/>
            <a:ext cx="925536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18095"/>
            <a:ext cx="11426397" cy="5005455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4AF-E7B0-ECEF-4A1C-9AC55A8697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0041014" y="89395"/>
            <a:ext cx="1766384" cy="939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Insert logo / graphic / image</a:t>
            </a:r>
          </a:p>
        </p:txBody>
      </p:sp>
    </p:spTree>
    <p:extLst>
      <p:ext uri="{BB962C8B-B14F-4D97-AF65-F5344CB8AC3E}">
        <p14:creationId xmlns:p14="http://schemas.microsoft.com/office/powerpoint/2010/main" val="177364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277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51640"/>
            <a:ext cx="11415765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86571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B3766BB-9DF0-745A-1DC6-A0D454D5D0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932960"/>
            <a:ext cx="11415765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676641-556C-2325-13E1-7C4FF9C97F77}"/>
              </a:ext>
            </a:extLst>
          </p:cNvPr>
          <p:cNvCxnSpPr>
            <a:cxnSpLocks/>
          </p:cNvCxnSpPr>
          <p:nvPr/>
        </p:nvCxnSpPr>
        <p:spPr>
          <a:xfrm>
            <a:off x="377686" y="6226583"/>
            <a:ext cx="11429711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922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8717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AAD3021-AA2D-B1FC-B7E2-575F1AB42B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pic>
        <p:nvPicPr>
          <p:cNvPr id="10" name="Picture 9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25A717AA-7E21-DC99-CA70-CCCBB5340BB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b="19649"/>
          <a:stretch/>
        </p:blipFill>
        <p:spPr>
          <a:xfrm>
            <a:off x="-2" y="1642533"/>
            <a:ext cx="12192001" cy="52154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651640"/>
            <a:ext cx="11022169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93329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256FE51-A810-45B2-C48E-4B946DC90A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7" y="1932960"/>
            <a:ext cx="11419078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A92C5B-3BC2-3A66-6715-52A3260C658A}"/>
              </a:ext>
            </a:extLst>
          </p:cNvPr>
          <p:cNvCxnSpPr>
            <a:cxnSpLocks/>
          </p:cNvCxnSpPr>
          <p:nvPr/>
        </p:nvCxnSpPr>
        <p:spPr>
          <a:xfrm>
            <a:off x="388319" y="6226583"/>
            <a:ext cx="11419078" cy="0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551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AD27072-DCD4-212F-0EDF-815F761C50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1201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27072-DCD4-212F-0EDF-815F761C5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99A8EF28-4FB9-508F-7908-101C7D01381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65" b="41079"/>
          <a:stretch/>
        </p:blipFill>
        <p:spPr>
          <a:xfrm>
            <a:off x="0" y="6126568"/>
            <a:ext cx="12192000" cy="7314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/>
        </p:nvSpPr>
        <p:spPr>
          <a:xfrm>
            <a:off x="0" y="-1"/>
            <a:ext cx="12192000" cy="128132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5"/>
            <a:ext cx="1141907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297981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191205"/>
            <a:ext cx="10945987" cy="560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A44B8DF-3DD1-32B6-E1B5-F981E5DEF8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8145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14D6D0A-003C-6513-8165-436B0A6EDA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7688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0836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D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7334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5590" y="1892595"/>
            <a:ext cx="5569909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4"/>
            <a:ext cx="5283374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6BB934-39D4-33F2-BA9B-8A09D8DC1D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r="64855"/>
          <a:stretch/>
        </p:blipFill>
        <p:spPr>
          <a:xfrm rot="16200000">
            <a:off x="215291" y="977292"/>
            <a:ext cx="5665417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71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and grey logo&#10;&#10;Description automatically generated">
            <a:extLst>
              <a:ext uri="{FF2B5EF4-FFF2-40B4-BE49-F238E27FC236}">
                <a16:creationId xmlns:a16="http://schemas.microsoft.com/office/drawing/2014/main" id="{5F85BADD-F7C0-40D9-5C21-C0313F8C1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67947F-D05C-1C7E-1E30-5564C73D6F4B}"/>
              </a:ext>
            </a:extLst>
          </p:cNvPr>
          <p:cNvSpPr txBox="1"/>
          <p:nvPr/>
        </p:nvSpPr>
        <p:spPr>
          <a:xfrm>
            <a:off x="6868634" y="4200968"/>
            <a:ext cx="494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To learn more about Newry, please visit www.newrycorp.com</a:t>
            </a:r>
          </a:p>
        </p:txBody>
      </p:sp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8BA2871-3D1A-BCC8-9150-6179F76A8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BA2871-3D1A-BCC8-9150-6179F76A8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F5C8311-677D-BAB1-118A-A1786059C4C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EB3527-F301-491F-E832-0A28A2F65BB4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2B941B-7C2A-21A3-494E-19AA3F873EA6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red and grey logo&#10;&#10;Description automatically generated">
            <a:extLst>
              <a:ext uri="{FF2B5EF4-FFF2-40B4-BE49-F238E27FC236}">
                <a16:creationId xmlns:a16="http://schemas.microsoft.com/office/drawing/2014/main" id="{EB747B5D-36DA-FC28-15EB-F0F6BE18F1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CA1709-5B30-FCB1-63C8-05B58082167C}"/>
              </a:ext>
            </a:extLst>
          </p:cNvPr>
          <p:cNvSpPr txBox="1"/>
          <p:nvPr userDrawn="1"/>
        </p:nvSpPr>
        <p:spPr>
          <a:xfrm>
            <a:off x="6868634" y="4200968"/>
            <a:ext cx="494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To learn more about Newry, please visit www.newrycorp.com</a:t>
            </a:r>
          </a:p>
        </p:txBody>
      </p:sp>
      <p:pic>
        <p:nvPicPr>
          <p:cNvPr id="16" name="Picture 15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01B3676B-C100-A1CC-A486-EC8A6A8642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42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8A5ECE0-3DC2-817F-20D2-D2A9F1AFB6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6126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A5ECE0-3DC2-817F-20D2-D2A9F1AFB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9C918351-CB12-4B15-875A-AA137536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28" y="4412430"/>
            <a:ext cx="8091055" cy="699772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731F10-2F5C-420E-942F-C2EE8038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28" y="5282266"/>
            <a:ext cx="8091055" cy="5629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Picture 1" descr="Newry_withtagline.png">
            <a:extLst>
              <a:ext uri="{FF2B5EF4-FFF2-40B4-BE49-F238E27FC236}">
                <a16:creationId xmlns:a16="http://schemas.microsoft.com/office/drawing/2014/main" id="{CCD8A712-545B-A7C7-E88D-26D497E3B8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780"/>
          <a:stretch/>
        </p:blipFill>
        <p:spPr>
          <a:xfrm>
            <a:off x="9539555" y="5817809"/>
            <a:ext cx="2308758" cy="529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107135-FB17-5650-5734-577B7432E002}"/>
              </a:ext>
            </a:extLst>
          </p:cNvPr>
          <p:cNvSpPr txBox="1"/>
          <p:nvPr userDrawn="1"/>
        </p:nvSpPr>
        <p:spPr>
          <a:xfrm>
            <a:off x="9539555" y="6347637"/>
            <a:ext cx="230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PRIVATE &amp; CONFIDENTIAL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69B93AF-D52C-CAE1-C7E4-3E7BEFA32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128" y="6193747"/>
            <a:ext cx="3391094" cy="307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8" name="Picture 17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AA2F592A-8FA8-7BF1-490B-E5338C3A4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18079" r="16079" b="11741"/>
          <a:stretch/>
        </p:blipFill>
        <p:spPr>
          <a:xfrm>
            <a:off x="0" y="0"/>
            <a:ext cx="12192000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5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41E2B2-916E-1620-E6D4-23A95CE3B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3568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1E2B2-916E-1620-E6D4-23A95CE3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901E710E-DE9C-2B82-E370-4E6605A1E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11496" b="103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50676-9D25-9888-1719-C6CB072A887E}"/>
              </a:ext>
            </a:extLst>
          </p:cNvPr>
          <p:cNvSpPr/>
          <p:nvPr userDrawn="1"/>
        </p:nvSpPr>
        <p:spPr>
          <a:xfrm>
            <a:off x="0" y="4166937"/>
            <a:ext cx="12192000" cy="1505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658B082-7695-9150-A7C0-92375A81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454772"/>
            <a:ext cx="11430000" cy="92394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8E4BDE28-C7E9-EC23-0406-02DD0B1D6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0"/>
          <a:stretch/>
        </p:blipFill>
        <p:spPr>
          <a:xfrm>
            <a:off x="9866769" y="6220619"/>
            <a:ext cx="2129852" cy="4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19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9FEF2BE-6A72-EF47-C147-95FE769CB6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FEF2BE-6A72-EF47-C147-95FE769CB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4405"/>
            <a:ext cx="11415764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502044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2201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5038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6637"/>
            <a:ext cx="11415765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99" y="6307355"/>
            <a:ext cx="1091077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F7293-0224-05BF-D733-19F156C60FFF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08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40">
          <p15:clr>
            <a:srgbClr val="FBAE40"/>
          </p15:clr>
        </p15:guide>
        <p15:guide id="3" pos="74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and grey logo&#10;&#10;Description automatically generated">
            <a:extLst>
              <a:ext uri="{FF2B5EF4-FFF2-40B4-BE49-F238E27FC236}">
                <a16:creationId xmlns:a16="http://schemas.microsoft.com/office/drawing/2014/main" id="{5F85BADD-F7C0-40D9-5C21-C0313F8C1D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67947F-D05C-1C7E-1E30-5564C73D6F4B}"/>
              </a:ext>
            </a:extLst>
          </p:cNvPr>
          <p:cNvSpPr txBox="1"/>
          <p:nvPr userDrawn="1"/>
        </p:nvSpPr>
        <p:spPr>
          <a:xfrm>
            <a:off x="6868634" y="4200968"/>
            <a:ext cx="494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To learn more about Newry, please visit www.newrycorp.com</a:t>
            </a:r>
          </a:p>
        </p:txBody>
      </p:sp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9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8A5ECE0-3DC2-817F-20D2-D2A9F1AFB6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8071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A5ECE0-3DC2-817F-20D2-D2A9F1AFB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NEWRY&#10;&#10;AI-generated content may be incorrect.">
            <a:extLst>
              <a:ext uri="{FF2B5EF4-FFF2-40B4-BE49-F238E27FC236}">
                <a16:creationId xmlns:a16="http://schemas.microsoft.com/office/drawing/2014/main" id="{C4BF86D4-2FE3-0B18-B6DC-D00C50D46E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871" y="5662746"/>
            <a:ext cx="2265317" cy="76315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C918351-CB12-4B15-875A-AA137536D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28" y="4412430"/>
            <a:ext cx="8091055" cy="699772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731F10-2F5C-420E-942F-C2EE80383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28" y="5282266"/>
            <a:ext cx="8091055" cy="5629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07135-FB17-5650-5734-577B7432E002}"/>
              </a:ext>
            </a:extLst>
          </p:cNvPr>
          <p:cNvSpPr txBox="1"/>
          <p:nvPr userDrawn="1"/>
        </p:nvSpPr>
        <p:spPr>
          <a:xfrm>
            <a:off x="9539555" y="6347637"/>
            <a:ext cx="230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PRIVATE &amp; CONFIDENTIAL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69B93AF-D52C-CAE1-C7E4-3E7BEFA32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128" y="6193747"/>
            <a:ext cx="3391094" cy="3077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8" name="Picture 17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AA2F592A-8FA8-7BF1-490B-E5338C3A4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" t="18079" r="16079" b="11741"/>
          <a:stretch/>
        </p:blipFill>
        <p:spPr>
          <a:xfrm>
            <a:off x="0" y="0"/>
            <a:ext cx="12192000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60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41E2B2-916E-1620-E6D4-23A95CE3B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35685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41E2B2-916E-1620-E6D4-23A95CE3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3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901E710E-DE9C-2B82-E370-4E6605A1E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11496" b="103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550676-9D25-9888-1719-C6CB072A887E}"/>
              </a:ext>
            </a:extLst>
          </p:cNvPr>
          <p:cNvSpPr/>
          <p:nvPr userDrawn="1"/>
        </p:nvSpPr>
        <p:spPr>
          <a:xfrm>
            <a:off x="0" y="4166937"/>
            <a:ext cx="12192000" cy="1505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658B082-7695-9150-A7C0-92375A81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454772"/>
            <a:ext cx="11430000" cy="92394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 marL="442432" indent="0" algn="ctr">
              <a:buNone/>
              <a:defRPr sz="1935"/>
            </a:lvl2pPr>
            <a:lvl3pPr marL="884865" indent="0" algn="ctr">
              <a:buNone/>
              <a:defRPr sz="1742"/>
            </a:lvl3pPr>
            <a:lvl4pPr marL="1327297" indent="0" algn="ctr">
              <a:buNone/>
              <a:defRPr sz="1548"/>
            </a:lvl4pPr>
            <a:lvl5pPr marL="1769730" indent="0" algn="ctr">
              <a:buNone/>
              <a:defRPr sz="1548"/>
            </a:lvl5pPr>
            <a:lvl6pPr marL="2212162" indent="0" algn="ctr">
              <a:buNone/>
              <a:defRPr sz="1548"/>
            </a:lvl6pPr>
            <a:lvl7pPr marL="2654595" indent="0" algn="ctr">
              <a:buNone/>
              <a:defRPr sz="1548"/>
            </a:lvl7pPr>
            <a:lvl8pPr marL="3097027" indent="0" algn="ctr">
              <a:buNone/>
              <a:defRPr sz="1548"/>
            </a:lvl8pPr>
            <a:lvl9pPr marL="3539460" indent="0" algn="ctr">
              <a:buNone/>
              <a:defRPr sz="1548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8E4BDE28-C7E9-EC23-0406-02DD0B1D6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0"/>
          <a:stretch/>
        </p:blipFill>
        <p:spPr>
          <a:xfrm>
            <a:off x="9866769" y="6220619"/>
            <a:ext cx="2129852" cy="4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30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70655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0" y="0"/>
            <a:ext cx="461309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36388" y="1892595"/>
            <a:ext cx="7074612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5704"/>
            <a:ext cx="3893048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DC4E7B-D01F-BB1C-6BAC-8890CDD26DD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28" y="1858237"/>
            <a:ext cx="12192000" cy="52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6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and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FCD4DF4-1CAA-044B-9ED5-1B73AEF989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2463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D4DF4-1CAA-044B-9ED5-1B73AEF989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C42ACF36-1969-C3FD-CBDF-753C21155293}"/>
              </a:ext>
            </a:extLst>
          </p:cNvPr>
          <p:cNvSpPr/>
          <p:nvPr userDrawn="1"/>
        </p:nvSpPr>
        <p:spPr>
          <a:xfrm>
            <a:off x="6301555" y="1107239"/>
            <a:ext cx="5486400" cy="5258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09186-1B19-C122-E55C-3C0EFF19FA95}"/>
              </a:ext>
            </a:extLst>
          </p:cNvPr>
          <p:cNvSpPr/>
          <p:nvPr userDrawn="1"/>
        </p:nvSpPr>
        <p:spPr>
          <a:xfrm>
            <a:off x="377651" y="1107239"/>
            <a:ext cx="5501836" cy="5258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DF3101-29A4-67D1-62A0-75AF3C17E0E6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15BAC3F-3EB9-C995-6E47-ADAB6C36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60929"/>
            <a:ext cx="11406955" cy="774017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FA2A22F-AA77-5D52-7AE9-5255DCC8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439736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0BD561B-1132-92E3-2047-5DEB6380E6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9791" y="1496604"/>
            <a:ext cx="5480903" cy="486902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B3C0793-0440-A5E8-1D12-03E9E21DC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9791" y="1107239"/>
            <a:ext cx="5480904" cy="3065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BACKGROUND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96534BF-0278-FDAD-01B4-91313E53A4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1555" y="1111331"/>
            <a:ext cx="5486400" cy="3024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OBJECTIVES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788CD02-6718-5D01-DE5D-00843DA60A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8181" y="1496599"/>
            <a:ext cx="5479774" cy="486902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813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E9EDEA-A558-0897-372C-00462C8B12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999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E9EDEA-A558-0897-372C-00462C8B1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7993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3628"/>
            <a:ext cx="11415765" cy="483551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5B22B-0FB3-B2D0-6CB2-306782767A36}"/>
              </a:ext>
            </a:extLst>
          </p:cNvPr>
          <p:cNvSpPr/>
          <p:nvPr userDrawn="1"/>
        </p:nvSpPr>
        <p:spPr>
          <a:xfrm>
            <a:off x="0" y="6103088"/>
            <a:ext cx="12192000" cy="754912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03B2C28-6825-22F6-D64A-D678EBD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22773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4B2CE3A-E71E-7684-7D73-B470F97175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264823"/>
            <a:ext cx="10946004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C72577-658E-4D0C-D83D-DAE04B299F98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8039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5038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6637"/>
            <a:ext cx="11415765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99" y="6307355"/>
            <a:ext cx="1091077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F7293-0224-05BF-D733-19F156C60FFF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035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40">
          <p15:clr>
            <a:srgbClr val="FBAE40"/>
          </p15:clr>
        </p15:guide>
        <p15:guide id="3" pos="74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9FEF2BE-6A72-EF47-C147-95FE769CB6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FEF2BE-6A72-EF47-C147-95FE769CB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4405"/>
            <a:ext cx="11415764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502044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1476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0D29F9A-1DAE-6201-701C-92563ED26B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7440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D29F9A-1DAE-6201-701C-92563ED26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2" y="74405"/>
            <a:ext cx="10724102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8876" y="6317988"/>
            <a:ext cx="1095479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64111"/>
            <a:ext cx="11415765" cy="4959439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C4AAB9-CF17-4A20-05FC-0E5EBECBC467}"/>
              </a:ext>
            </a:extLst>
          </p:cNvPr>
          <p:cNvSpPr/>
          <p:nvPr userDrawn="1"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52B19414-A55B-8382-5EDB-D36FFFA026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54184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# 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5582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61" y="85038"/>
            <a:ext cx="10724103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5" y="1116637"/>
            <a:ext cx="11419079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307355"/>
            <a:ext cx="1091410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E32D75-52F5-F1D0-D24F-1EF5ADB1883E}"/>
              </a:ext>
            </a:extLst>
          </p:cNvPr>
          <p:cNvSpPr/>
          <p:nvPr userDrawn="1"/>
        </p:nvSpPr>
        <p:spPr>
          <a:xfrm>
            <a:off x="395974" y="239795"/>
            <a:ext cx="519129" cy="5191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60450DC-D332-7C0F-F290-0A1C32F42D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148" y="345274"/>
            <a:ext cx="242779" cy="3081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26B1A2-C0F7-84FC-D538-95C9BFCBD0BE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385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Bod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8E1B75A-A3C6-0F97-7892-0BE705856D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676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E1B75A-A3C6-0F97-7892-0BE705856D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9988062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89394"/>
            <a:ext cx="925536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18095"/>
            <a:ext cx="11426397" cy="5005455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4AF-E7B0-ECEF-4A1C-9AC55A86978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10041014" y="89395"/>
            <a:ext cx="1766384" cy="9393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Insert logo / graphic / image</a:t>
            </a:r>
          </a:p>
        </p:txBody>
      </p:sp>
    </p:spTree>
    <p:extLst>
      <p:ext uri="{BB962C8B-B14F-4D97-AF65-F5344CB8AC3E}">
        <p14:creationId xmlns:p14="http://schemas.microsoft.com/office/powerpoint/2010/main" val="7073082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277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51640"/>
            <a:ext cx="11415765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86571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8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B3766BB-9DF0-745A-1DC6-A0D454D5D0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932960"/>
            <a:ext cx="11415765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676641-556C-2325-13E1-7C4FF9C97F77}"/>
              </a:ext>
            </a:extLst>
          </p:cNvPr>
          <p:cNvCxnSpPr>
            <a:cxnSpLocks/>
          </p:cNvCxnSpPr>
          <p:nvPr userDrawn="1"/>
        </p:nvCxnSpPr>
        <p:spPr>
          <a:xfrm>
            <a:off x="377686" y="6226583"/>
            <a:ext cx="11429711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540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A3EFCD-3E5B-2630-10D1-084D2C653F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8717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A3EFCD-3E5B-2630-10D1-084D2C653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AAD3021-AA2D-B1FC-B7E2-575F1AB42B6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pic>
        <p:nvPicPr>
          <p:cNvPr id="10" name="Picture 9" descr="A blue square with white lines&#10;&#10;Description automatically generated">
            <a:extLst>
              <a:ext uri="{FF2B5EF4-FFF2-40B4-BE49-F238E27FC236}">
                <a16:creationId xmlns:a16="http://schemas.microsoft.com/office/drawing/2014/main" id="{25A717AA-7E21-DC99-CA70-CCCBB5340B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9" b="19649"/>
          <a:stretch/>
        </p:blipFill>
        <p:spPr>
          <a:xfrm>
            <a:off x="-2" y="1642533"/>
            <a:ext cx="12192001" cy="52154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435935"/>
            <a:ext cx="12192000" cy="12813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651640"/>
            <a:ext cx="11022169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93329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339254"/>
            <a:ext cx="1094598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256FE51-A810-45B2-C48E-4B946DC90A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687" y="1932960"/>
            <a:ext cx="11419078" cy="424026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bg1"/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A92C5B-3BC2-3A66-6715-52A3260C658A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26583"/>
            <a:ext cx="11419078" cy="0"/>
          </a:xfrm>
          <a:prstGeom prst="line">
            <a:avLst/>
          </a:prstGeom>
          <a:ln w="1905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8624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AD27072-DCD4-212F-0EDF-815F761C50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1201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D27072-DCD4-212F-0EDF-815F761C50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blue and white dotted background&#10;&#10;Description automatically generated with medium confidence">
            <a:extLst>
              <a:ext uri="{FF2B5EF4-FFF2-40B4-BE49-F238E27FC236}">
                <a16:creationId xmlns:a16="http://schemas.microsoft.com/office/drawing/2014/main" id="{99A8EF28-4FB9-508F-7908-101C7D0138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65" b="41079"/>
          <a:stretch/>
        </p:blipFill>
        <p:spPr>
          <a:xfrm>
            <a:off x="0" y="6126568"/>
            <a:ext cx="12192000" cy="7314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28132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5"/>
            <a:ext cx="11419078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297981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86" y="6191205"/>
            <a:ext cx="10945987" cy="5604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1A44B8DF-3DD1-32B6-E1B5-F981E5DEF8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8145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14D6D0A-003C-6513-8165-436B0A6EDAC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7688" y="1497026"/>
            <a:ext cx="5619077" cy="4478472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8914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73346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EE587574-2D43-D1C4-C9BE-FCB6A64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590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0A24571-38DB-14F4-42C8-D6423AB4D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5590" y="1892595"/>
            <a:ext cx="5569909" cy="426969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AF51814-584E-99BC-9B07-A2480574BC93}"/>
              </a:ext>
            </a:extLst>
          </p:cNvPr>
          <p:cNvCxnSpPr>
            <a:cxnSpLocks/>
          </p:cNvCxnSpPr>
          <p:nvPr userDrawn="1"/>
        </p:nvCxnSpPr>
        <p:spPr>
          <a:xfrm>
            <a:off x="388319" y="6279748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4AE619D-10E0-2BEE-0A8A-50EB268D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215704"/>
            <a:ext cx="5283374" cy="1290271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6BB934-39D4-33F2-BA9B-8A09D8DC1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8" r="64855"/>
          <a:stretch/>
        </p:blipFill>
        <p:spPr>
          <a:xfrm rot="16200000">
            <a:off x="215291" y="977292"/>
            <a:ext cx="5665417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366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and grey logo&#10;&#10;Description automatically generated">
            <a:extLst>
              <a:ext uri="{FF2B5EF4-FFF2-40B4-BE49-F238E27FC236}">
                <a16:creationId xmlns:a16="http://schemas.microsoft.com/office/drawing/2014/main" id="{5F85BADD-F7C0-40D9-5C21-C0313F8C1D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67947F-D05C-1C7E-1E30-5564C73D6F4B}"/>
              </a:ext>
            </a:extLst>
          </p:cNvPr>
          <p:cNvSpPr txBox="1"/>
          <p:nvPr userDrawn="1"/>
        </p:nvSpPr>
        <p:spPr>
          <a:xfrm>
            <a:off x="6868634" y="4200968"/>
            <a:ext cx="494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To learn more about Newry, please visit www.newrycorp.com</a:t>
            </a:r>
          </a:p>
        </p:txBody>
      </p:sp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49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d and grey logo&#10;&#10;Description automatically generated">
            <a:extLst>
              <a:ext uri="{FF2B5EF4-FFF2-40B4-BE49-F238E27FC236}">
                <a16:creationId xmlns:a16="http://schemas.microsoft.com/office/drawing/2014/main" id="{5F85BADD-F7C0-40D9-5C21-C0313F8C1D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9E4266-CBA4-BF79-A0E0-101BEF44FEC6}"/>
              </a:ext>
            </a:extLst>
          </p:cNvPr>
          <p:cNvSpPr txBox="1"/>
          <p:nvPr userDrawn="1"/>
        </p:nvSpPr>
        <p:spPr>
          <a:xfrm>
            <a:off x="6869581" y="6425306"/>
            <a:ext cx="4945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</a:rPr>
              <a:t>newrycorp.com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68391-7813-039B-3EBB-2904DE36F65D}"/>
              </a:ext>
            </a:extLst>
          </p:cNvPr>
          <p:cNvSpPr txBox="1"/>
          <p:nvPr userDrawn="1"/>
        </p:nvSpPr>
        <p:spPr>
          <a:xfrm>
            <a:off x="6861718" y="2312251"/>
            <a:ext cx="49456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i="1">
                <a:solidFill>
                  <a:schemeClr val="bg1"/>
                </a:solidFill>
              </a:rPr>
              <a:t>Our Purpose:</a:t>
            </a:r>
          </a:p>
          <a:p>
            <a:r>
              <a:rPr lang="en-US" sz="1400" i="0">
                <a:solidFill>
                  <a:schemeClr val="bg1"/>
                </a:solidFill>
              </a:rPr>
              <a:t>Catalyzing growth for our clients, colleagues, and </a:t>
            </a:r>
            <a:br>
              <a:rPr lang="en-US" sz="1400" i="0">
                <a:solidFill>
                  <a:schemeClr val="bg1"/>
                </a:solidFill>
              </a:rPr>
            </a:br>
            <a:r>
              <a:rPr lang="en-US" sz="1400" i="0">
                <a:solidFill>
                  <a:schemeClr val="bg1"/>
                </a:solidFill>
              </a:rPr>
              <a:t>communities – together. </a:t>
            </a:r>
          </a:p>
          <a:p>
            <a:endParaRPr lang="en-US" sz="1400" i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i="1">
                <a:solidFill>
                  <a:schemeClr val="bg1"/>
                </a:solidFill>
              </a:rPr>
              <a:t>Our Values:</a:t>
            </a:r>
          </a:p>
          <a:p>
            <a:r>
              <a:rPr lang="en-US" sz="1400" i="0">
                <a:solidFill>
                  <a:schemeClr val="bg1"/>
                </a:solidFill>
              </a:rPr>
              <a:t>Put Clients First</a:t>
            </a:r>
          </a:p>
          <a:p>
            <a:r>
              <a:rPr lang="en-US" sz="1400" i="0">
                <a:solidFill>
                  <a:schemeClr val="bg1"/>
                </a:solidFill>
              </a:rPr>
              <a:t>Demonstrate High Integrity</a:t>
            </a:r>
          </a:p>
          <a:p>
            <a:r>
              <a:rPr lang="en-US" sz="1400" i="0">
                <a:solidFill>
                  <a:schemeClr val="bg1"/>
                </a:solidFill>
              </a:rPr>
              <a:t>Pursue Growth &amp; Excellence</a:t>
            </a:r>
          </a:p>
          <a:p>
            <a:r>
              <a:rPr lang="en-US" sz="1400" i="0">
                <a:solidFill>
                  <a:schemeClr val="bg1"/>
                </a:solidFill>
              </a:rPr>
              <a:t>Collaborate Enthusiastically</a:t>
            </a:r>
          </a:p>
          <a:p>
            <a:r>
              <a:rPr lang="en-US" sz="1400" i="0">
                <a:solidFill>
                  <a:schemeClr val="bg1"/>
                </a:solidFill>
              </a:rPr>
              <a:t>Take Ownership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FB2B4-77A6-D00A-0610-6FD6A248966E}"/>
              </a:ext>
            </a:extLst>
          </p:cNvPr>
          <p:cNvSpPr txBox="1"/>
          <p:nvPr userDrawn="1"/>
        </p:nvSpPr>
        <p:spPr>
          <a:xfrm>
            <a:off x="6869581" y="4869853"/>
            <a:ext cx="4945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</p:txBody>
      </p:sp>
    </p:spTree>
    <p:extLst>
      <p:ext uri="{BB962C8B-B14F-4D97-AF65-F5344CB8AC3E}">
        <p14:creationId xmlns:p14="http://schemas.microsoft.com/office/powerpoint/2010/main" val="42232965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BD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2C48D9C-0895-18A0-F9E5-C15981C91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31069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C48D9C-0895-18A0-F9E5-C15981C91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26F1F4FD-A43D-EC91-B765-BEA00848C29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F1BCFB-5D5D-452B-041C-7BF2E1CAD153}"/>
              </a:ext>
            </a:extLst>
          </p:cNvPr>
          <p:cNvCxnSpPr>
            <a:cxnSpLocks/>
          </p:cNvCxnSpPr>
          <p:nvPr userDrawn="1"/>
        </p:nvCxnSpPr>
        <p:spPr>
          <a:xfrm>
            <a:off x="-15728" y="1623434"/>
            <a:ext cx="6111728" cy="0"/>
          </a:xfrm>
          <a:prstGeom prst="line">
            <a:avLst/>
          </a:prstGeom>
          <a:ln w="38100">
            <a:solidFill>
              <a:schemeClr val="accent2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6E924F8-AA22-D998-3FED-60958C1F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66865" y="6397204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DBE3C23-1DBC-80F6-8957-E3B7C77DE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87" y="1918732"/>
            <a:ext cx="5486087" cy="4313561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825047-C32D-7687-BFCE-F364FB1E0BDB}"/>
              </a:ext>
            </a:extLst>
          </p:cNvPr>
          <p:cNvCxnSpPr>
            <a:cxnSpLocks/>
          </p:cNvCxnSpPr>
          <p:nvPr userDrawn="1"/>
        </p:nvCxnSpPr>
        <p:spPr>
          <a:xfrm>
            <a:off x="388319" y="6301014"/>
            <a:ext cx="11419078" cy="0"/>
          </a:xfrm>
          <a:prstGeom prst="line">
            <a:avLst/>
          </a:prstGeom>
          <a:ln w="1905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67947F-D05C-1C7E-1E30-5564C73D6F4B}"/>
              </a:ext>
            </a:extLst>
          </p:cNvPr>
          <p:cNvSpPr txBox="1"/>
          <p:nvPr userDrawn="1"/>
        </p:nvSpPr>
        <p:spPr>
          <a:xfrm>
            <a:off x="6869581" y="6425306"/>
            <a:ext cx="4945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</a:rPr>
              <a:t>newrycorp.com</a:t>
            </a:r>
          </a:p>
        </p:txBody>
      </p:sp>
      <p:pic>
        <p:nvPicPr>
          <p:cNvPr id="19" name="Picture 18" descr="A blue background with a blue wave&#10;&#10;Description automatically generated with medium confidence">
            <a:extLst>
              <a:ext uri="{FF2B5EF4-FFF2-40B4-BE49-F238E27FC236}">
                <a16:creationId xmlns:a16="http://schemas.microsoft.com/office/drawing/2014/main" id="{1596A476-7053-9D30-5963-495E73ADEB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9855" b="23672"/>
          <a:stretch/>
        </p:blipFill>
        <p:spPr>
          <a:xfrm>
            <a:off x="6111729" y="31898"/>
            <a:ext cx="6095999" cy="4132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F2E9E9-EADB-7B63-68CA-B92CA5111035}"/>
              </a:ext>
            </a:extLst>
          </p:cNvPr>
          <p:cNvSpPr txBox="1"/>
          <p:nvPr userDrawn="1"/>
        </p:nvSpPr>
        <p:spPr>
          <a:xfrm>
            <a:off x="6861718" y="2312251"/>
            <a:ext cx="49456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i="1">
                <a:solidFill>
                  <a:schemeClr val="bg1"/>
                </a:solidFill>
              </a:rPr>
              <a:t>Our Purpose:</a:t>
            </a:r>
          </a:p>
          <a:p>
            <a:r>
              <a:rPr lang="en-US" sz="1400" i="0">
                <a:solidFill>
                  <a:schemeClr val="bg1"/>
                </a:solidFill>
              </a:rPr>
              <a:t>Catalyzing growth for our clients, colleagues, and </a:t>
            </a:r>
            <a:br>
              <a:rPr lang="en-US" sz="1400" i="0">
                <a:solidFill>
                  <a:schemeClr val="bg1"/>
                </a:solidFill>
              </a:rPr>
            </a:br>
            <a:r>
              <a:rPr lang="en-US" sz="1400" i="0">
                <a:solidFill>
                  <a:schemeClr val="bg1"/>
                </a:solidFill>
              </a:rPr>
              <a:t>communities – together. </a:t>
            </a:r>
          </a:p>
          <a:p>
            <a:endParaRPr lang="en-US" sz="1400" i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i="1">
                <a:solidFill>
                  <a:schemeClr val="bg1"/>
                </a:solidFill>
              </a:rPr>
              <a:t>Our Values:</a:t>
            </a:r>
          </a:p>
          <a:p>
            <a:r>
              <a:rPr lang="en-US" sz="1400" i="0">
                <a:solidFill>
                  <a:schemeClr val="bg1"/>
                </a:solidFill>
              </a:rPr>
              <a:t>Put Clients First</a:t>
            </a:r>
          </a:p>
          <a:p>
            <a:r>
              <a:rPr lang="en-US" sz="1400" i="0">
                <a:solidFill>
                  <a:schemeClr val="bg1"/>
                </a:solidFill>
              </a:rPr>
              <a:t>Demonstrate High Integrity</a:t>
            </a:r>
          </a:p>
          <a:p>
            <a:r>
              <a:rPr lang="en-US" sz="1400" i="0">
                <a:solidFill>
                  <a:schemeClr val="bg1"/>
                </a:solidFill>
              </a:rPr>
              <a:t>Pursue Growth &amp; Excellence</a:t>
            </a:r>
          </a:p>
          <a:p>
            <a:r>
              <a:rPr lang="en-US" sz="1400" i="0">
                <a:solidFill>
                  <a:schemeClr val="bg1"/>
                </a:solidFill>
              </a:rPr>
              <a:t>Collaborate Enthusiastically</a:t>
            </a:r>
          </a:p>
          <a:p>
            <a:r>
              <a:rPr lang="en-US" sz="1400" i="0">
                <a:solidFill>
                  <a:schemeClr val="bg1"/>
                </a:solidFill>
              </a:rPr>
              <a:t>Take Ownership</a:t>
            </a:r>
          </a:p>
        </p:txBody>
      </p:sp>
      <p:pic>
        <p:nvPicPr>
          <p:cNvPr id="11" name="Picture 10" descr="NEWRY&#10;&#10;AI-generated content may be incorrect.">
            <a:extLst>
              <a:ext uri="{FF2B5EF4-FFF2-40B4-BE49-F238E27FC236}">
                <a16:creationId xmlns:a16="http://schemas.microsoft.com/office/drawing/2014/main" id="{53C1D47D-3BD0-E2AD-B07C-F92385450C4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19" y="423859"/>
            <a:ext cx="2621088" cy="8830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4B17AF-E034-E699-1159-18B8106FA01D}"/>
              </a:ext>
            </a:extLst>
          </p:cNvPr>
          <p:cNvSpPr txBox="1"/>
          <p:nvPr userDrawn="1"/>
        </p:nvSpPr>
        <p:spPr>
          <a:xfrm>
            <a:off x="6869581" y="4869853"/>
            <a:ext cx="4945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>
                <a:solidFill>
                  <a:schemeClr val="bg1"/>
                </a:solidFill>
                <a:effectLst/>
              </a:rPr>
              <a:t>Newry is a growth strategy firm that partners with Fortune 500 companies and PE-backed portfolio companies to help them grow in adjacent markets where they have a right to win. </a:t>
            </a:r>
          </a:p>
        </p:txBody>
      </p:sp>
    </p:spTree>
    <p:extLst>
      <p:ext uri="{BB962C8B-B14F-4D97-AF65-F5344CB8AC3E}">
        <p14:creationId xmlns:p14="http://schemas.microsoft.com/office/powerpoint/2010/main" val="206908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2.bin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tags" Target="../tags/tag28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EFF1143-B8C7-E24B-918C-B31A4AB77BB7}"/>
              </a:ext>
            </a:extLst>
          </p:cNvPr>
          <p:cNvGraphicFramePr>
            <a:graphicFrameLocks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5865823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415" imgH="416" progId="TCLayout.ActiveDocument.1">
                  <p:embed/>
                </p:oleObj>
              </mc:Choice>
              <mc:Fallback>
                <p:oleObj name="think-cell Slide" r:id="rId24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FF1143-B8C7-E24B-918C-B31A4AB77B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631C-8F18-1F80-9250-28A9A9B9E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AC006-0232-409D-9197-5803CEECA495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2EA1-6880-DFBF-071B-6871600F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3BCE-9296-7B0F-2E0C-B8238762A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82F6C-15A9-481E-992D-A8E45E11B14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F2ACCE1-CF29-B232-2DCD-A39855B4D069}"/>
              </a:ext>
            </a:extLst>
          </p:cNvPr>
          <p:cNvGraphicFramePr>
            <a:graphicFrameLocks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9555993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499" imgH="508" progId="TCLayout.ActiveDocument.1">
                  <p:embed/>
                </p:oleObj>
              </mc:Choice>
              <mc:Fallback>
                <p:oleObj name="think-cell Slide" r:id="rId26" imgW="499" imgH="5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2ACCE1-CF29-B232-2DCD-A39855B4D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558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60" r:id="rId16"/>
    <p:sldLayoutId id="2147483661" r:id="rId17"/>
    <p:sldLayoutId id="2147483662" r:id="rId18"/>
    <p:sldLayoutId id="2147483663" r:id="rId19"/>
    <p:sldLayoutId id="2147483664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EFF1143-B8C7-E24B-918C-B31A4AB77BB7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5865823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415" imgH="416" progId="TCLayout.ActiveDocument.1">
                  <p:embed/>
                </p:oleObj>
              </mc:Choice>
              <mc:Fallback>
                <p:oleObj name="think-cell Slide" r:id="rId20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FF1143-B8C7-E24B-918C-B31A4AB77B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631C-8F18-1F80-9250-28A9A9B9E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2EA1-6880-DFBF-071B-6871600F52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3BCE-9296-7B0F-2E0C-B8238762A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32129-9208-4234-9840-E03E907D1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0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8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9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0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jpeg"/><Relationship Id="rId4" Type="http://schemas.openxmlformats.org/officeDocument/2006/relationships/image" Target="../media/image11.emf"/><Relationship Id="rId9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3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1EA9-E3A8-B175-6E3C-637F2F86E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B9AAEB-C527-7FD5-0055-2E89900E7D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B9AAEB-C527-7FD5-0055-2E89900E7D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_title">
            <a:extLst>
              <a:ext uri="{FF2B5EF4-FFF2-40B4-BE49-F238E27FC236}">
                <a16:creationId xmlns:a16="http://schemas.microsoft.com/office/drawing/2014/main" id="{F27AD5BB-4D88-4802-064C-F42C2EF11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128" y="4412430"/>
            <a:ext cx="8518747" cy="699772"/>
          </a:xfrm>
        </p:spPr>
        <p:txBody>
          <a:bodyPr vert="horz" rIns="91440">
            <a:normAutofit fontScale="90000"/>
          </a:bodyPr>
          <a:lstStyle/>
          <a:p>
            <a:r>
              <a:rPr lang="en-US" noProof="0" dirty="0"/>
              <a:t>Driving Growth &amp; Enterprise Value </a:t>
            </a:r>
            <a:r>
              <a:rPr lang="en-US" noProof="0"/>
              <a:t>for &lt;Client&gt; </a:t>
            </a:r>
            <a:r>
              <a:rPr lang="en-US" noProof="0" dirty="0"/>
              <a:t>in North America and Europe</a:t>
            </a:r>
          </a:p>
        </p:txBody>
      </p:sp>
      <p:sp>
        <p:nvSpPr>
          <p:cNvPr id="3" name="S_subtitle">
            <a:extLst>
              <a:ext uri="{FF2B5EF4-FFF2-40B4-BE49-F238E27FC236}">
                <a16:creationId xmlns:a16="http://schemas.microsoft.com/office/drawing/2014/main" id="{38C1C4B0-0494-64BE-3978-41114DD5A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128" y="5630748"/>
            <a:ext cx="8839168" cy="562999"/>
          </a:xfrm>
        </p:spPr>
        <p:txBody>
          <a:bodyPr/>
          <a:lstStyle/>
          <a:p>
            <a:r>
              <a:rPr lang="en-US" dirty="0"/>
              <a:t>Proposal for &lt;Client&gt;</a:t>
            </a:r>
            <a:endParaRPr lang="en-US" noProof="0" dirty="0"/>
          </a:p>
        </p:txBody>
      </p:sp>
      <p:sp>
        <p:nvSpPr>
          <p:cNvPr id="4" name="S_date">
            <a:extLst>
              <a:ext uri="{FF2B5EF4-FFF2-40B4-BE49-F238E27FC236}">
                <a16:creationId xmlns:a16="http://schemas.microsoft.com/office/drawing/2014/main" id="{9E58D1FB-D38E-2C3D-195D-C261611387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154282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subtitle">
            <a:extLst>
              <a:ext uri="{FF2B5EF4-FFF2-40B4-BE49-F238E27FC236}">
                <a16:creationId xmlns:a16="http://schemas.microsoft.com/office/drawing/2014/main" id="{62CA9D95-279F-E6E6-9D9B-1998EC545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Case Study End Market Experience</a:t>
            </a:r>
          </a:p>
        </p:txBody>
      </p:sp>
    </p:spTree>
    <p:extLst>
      <p:ext uri="{BB962C8B-B14F-4D97-AF65-F5344CB8AC3E}">
        <p14:creationId xmlns:p14="http://schemas.microsoft.com/office/powerpoint/2010/main" val="380555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A1301-92FF-C8B0-AFD0-DE2985EB0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4D35581-6DD4-3E3A-7ECD-6BB77EB6A7D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3" progId="TCLayout.ActiveDocument.1">
                  <p:embed/>
                </p:oleObj>
              </mc:Choice>
              <mc:Fallback>
                <p:oleObj name="think-cell Slide" r:id="rId3" imgW="423" imgH="42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D35581-6DD4-3E3A-7ECD-6BB77EB6A7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_title">
            <a:extLst>
              <a:ext uri="{FF2B5EF4-FFF2-40B4-BE49-F238E27FC236}">
                <a16:creationId xmlns:a16="http://schemas.microsoft.com/office/drawing/2014/main" id="{2D9E43F6-CB44-F607-684C-48830CD9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Newry has broad experience across the semiconductor / electronics value chain, in a variety of topics relevant to &lt;Client&gt;’s business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E6EF08-F0BA-51B8-EDD7-DD9EE35E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D22ED1-E160-E257-C02B-2A2A8DAB2A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3EDC3C0-0C1F-9E39-9BFD-87086D2A772F}"/>
              </a:ext>
            </a:extLst>
          </p:cNvPr>
          <p:cNvSpPr/>
          <p:nvPr/>
        </p:nvSpPr>
        <p:spPr>
          <a:xfrm>
            <a:off x="380999" y="1472814"/>
            <a:ext cx="1959151" cy="914400"/>
          </a:xfrm>
          <a:prstGeom prst="homePlate">
            <a:avLst>
              <a:gd name="adj" fmla="val 4542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Electronics Design &amp; Architecture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F7AAAF7-351B-1B1A-B8C6-E2538AC092B9}"/>
              </a:ext>
            </a:extLst>
          </p:cNvPr>
          <p:cNvSpPr/>
          <p:nvPr/>
        </p:nvSpPr>
        <p:spPr>
          <a:xfrm>
            <a:off x="2042271" y="1472814"/>
            <a:ext cx="2159462" cy="9144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Front-End Wafer Fabrication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92DB4307-4B1B-C565-399B-201F2BAEBF96}"/>
              </a:ext>
            </a:extLst>
          </p:cNvPr>
          <p:cNvSpPr/>
          <p:nvPr/>
        </p:nvSpPr>
        <p:spPr>
          <a:xfrm>
            <a:off x="3903854" y="1472814"/>
            <a:ext cx="2159462" cy="9144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Back-End Advanced Packaging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5351633D-0734-A045-99C7-FA4CF4F79C21}"/>
              </a:ext>
            </a:extLst>
          </p:cNvPr>
          <p:cNvSpPr/>
          <p:nvPr/>
        </p:nvSpPr>
        <p:spPr>
          <a:xfrm>
            <a:off x="7888208" y="1472814"/>
            <a:ext cx="2159461" cy="9144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System-Level Integration</a:t>
            </a:r>
          </a:p>
        </p:txBody>
      </p:sp>
      <p:sp>
        <p:nvSpPr>
          <p:cNvPr id="12" name="S_subhead">
            <a:extLst>
              <a:ext uri="{FF2B5EF4-FFF2-40B4-BE49-F238E27FC236}">
                <a16:creationId xmlns:a16="http://schemas.microsoft.com/office/drawing/2014/main" id="{69C118B0-E32F-10E2-02C2-A96402463DBF}"/>
              </a:ext>
            </a:extLst>
          </p:cNvPr>
          <p:cNvSpPr txBox="1"/>
          <p:nvPr/>
        </p:nvSpPr>
        <p:spPr>
          <a:xfrm>
            <a:off x="380999" y="1055142"/>
            <a:ext cx="678180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chemeClr val="accent2"/>
                </a:solidFill>
              </a:rPr>
              <a:t>PRIOR NEWRY EXPERIENCE ACROSS THE VALUE CHAIN</a:t>
            </a:r>
            <a:endParaRPr lang="en-US" sz="2000" i="1"/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F111C508-8DC3-ABC0-09BF-75C91A681FF4}"/>
              </a:ext>
            </a:extLst>
          </p:cNvPr>
          <p:cNvSpPr/>
          <p:nvPr/>
        </p:nvSpPr>
        <p:spPr>
          <a:xfrm>
            <a:off x="5765437" y="1472814"/>
            <a:ext cx="2420650" cy="9144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Board-Level Integration &amp; Thermal Mgmt.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77567384-C2C0-E302-BB7F-85F657F3B533}"/>
              </a:ext>
            </a:extLst>
          </p:cNvPr>
          <p:cNvSpPr/>
          <p:nvPr/>
        </p:nvSpPr>
        <p:spPr>
          <a:xfrm>
            <a:off x="9749790" y="1472814"/>
            <a:ext cx="2057608" cy="9144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bg1"/>
                </a:solidFill>
              </a:rPr>
              <a:t>End 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161C59-0BD2-67D0-B5B0-C60711874D1D}"/>
              </a:ext>
            </a:extLst>
          </p:cNvPr>
          <p:cNvSpPr/>
          <p:nvPr/>
        </p:nvSpPr>
        <p:spPr>
          <a:xfrm>
            <a:off x="3887669" y="2498489"/>
            <a:ext cx="1764613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Organic and glass core substrates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060383-AFBD-B2F3-1E4E-A4C11E78EF35}"/>
              </a:ext>
            </a:extLst>
          </p:cNvPr>
          <p:cNvSpPr/>
          <p:nvPr/>
        </p:nvSpPr>
        <p:spPr>
          <a:xfrm>
            <a:off x="3887616" y="3053726"/>
            <a:ext cx="1759330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Glass interposers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85B83-30F0-A06A-20A8-D3EF97140AF4}"/>
              </a:ext>
            </a:extLst>
          </p:cNvPr>
          <p:cNvSpPr/>
          <p:nvPr/>
        </p:nvSpPr>
        <p:spPr>
          <a:xfrm>
            <a:off x="3887616" y="3608963"/>
            <a:ext cx="1759330" cy="9564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Electronics 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adhesives (e.g., underfill, mold  compound, etc.)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641D8B-B417-B17E-8308-05194EEFEB3D}"/>
              </a:ext>
            </a:extLst>
          </p:cNvPr>
          <p:cNvSpPr/>
          <p:nvPr/>
        </p:nvSpPr>
        <p:spPr>
          <a:xfrm>
            <a:off x="7911842" y="2473273"/>
            <a:ext cx="1698651" cy="7249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Rack- and server-level architecture trends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B0A812-C964-428B-3C12-98D52FCDB97E}"/>
              </a:ext>
            </a:extLst>
          </p:cNvPr>
          <p:cNvSpPr/>
          <p:nvPr/>
        </p:nvSpPr>
        <p:spPr>
          <a:xfrm>
            <a:off x="7911841" y="3259829"/>
            <a:ext cx="1698651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Advanced cooling architectures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D224B8-1D8E-1358-4C2F-CBB1FC1093F1}"/>
              </a:ext>
            </a:extLst>
          </p:cNvPr>
          <p:cNvSpPr/>
          <p:nvPr/>
        </p:nvSpPr>
        <p:spPr>
          <a:xfrm>
            <a:off x="380998" y="2508623"/>
            <a:ext cx="1571677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Co-packaged optics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A1A54B-A232-2739-0804-527B975D96DF}"/>
              </a:ext>
            </a:extLst>
          </p:cNvPr>
          <p:cNvSpPr/>
          <p:nvPr/>
        </p:nvSpPr>
        <p:spPr>
          <a:xfrm>
            <a:off x="5829111" y="2473273"/>
            <a:ext cx="1895872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Immersion cooling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7705E8-0B94-6375-1A94-AB3E605F4005}"/>
              </a:ext>
            </a:extLst>
          </p:cNvPr>
          <p:cNvSpPr/>
          <p:nvPr/>
        </p:nvSpPr>
        <p:spPr>
          <a:xfrm>
            <a:off x="2121432" y="2499984"/>
            <a:ext cx="1579379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Wafer carriers and handling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AEF5A6-6AC1-32FF-9078-941EB29DD164}"/>
              </a:ext>
            </a:extLst>
          </p:cNvPr>
          <p:cNvSpPr/>
          <p:nvPr/>
        </p:nvSpPr>
        <p:spPr>
          <a:xfrm>
            <a:off x="2121431" y="3044938"/>
            <a:ext cx="1579379" cy="7249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High-purity gas for plasma etching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A798DD-F86A-DE66-271E-F264C703E52F}"/>
              </a:ext>
            </a:extLst>
          </p:cNvPr>
          <p:cNvSpPr/>
          <p:nvPr/>
        </p:nvSpPr>
        <p:spPr>
          <a:xfrm>
            <a:off x="5829110" y="3006859"/>
            <a:ext cx="1895872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Thermal interface materials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402448-5A15-2872-D6A1-63966AF9019F}"/>
              </a:ext>
            </a:extLst>
          </p:cNvPr>
          <p:cNvSpPr/>
          <p:nvPr/>
        </p:nvSpPr>
        <p:spPr>
          <a:xfrm>
            <a:off x="2121430" y="3849246"/>
            <a:ext cx="1579379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Optical </a:t>
            </a:r>
            <a:r>
              <a:rPr lang="en-US" sz="1400" err="1">
                <a:solidFill>
                  <a:schemeClr val="tx1"/>
                </a:solidFill>
              </a:rPr>
              <a:t>metasurfaces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5ABC70-0711-EBE0-2E22-7E4ACA923CF4}"/>
              </a:ext>
            </a:extLst>
          </p:cNvPr>
          <p:cNvSpPr/>
          <p:nvPr/>
        </p:nvSpPr>
        <p:spPr>
          <a:xfrm>
            <a:off x="2121431" y="4394200"/>
            <a:ext cx="1579379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Nanoimprint lithography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FC13CB-425E-4BAB-71CD-BD6EEB66A932}"/>
              </a:ext>
            </a:extLst>
          </p:cNvPr>
          <p:cNvSpPr/>
          <p:nvPr/>
        </p:nvSpPr>
        <p:spPr>
          <a:xfrm>
            <a:off x="2121430" y="4939154"/>
            <a:ext cx="1579379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CMP equipment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87FA6A-38FE-EE29-C562-1722A1276BE8}"/>
              </a:ext>
            </a:extLst>
          </p:cNvPr>
          <p:cNvSpPr/>
          <p:nvPr/>
        </p:nvSpPr>
        <p:spPr>
          <a:xfrm>
            <a:off x="9797776" y="2473273"/>
            <a:ext cx="1574421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Display technologies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A4B48D-09D4-273D-EA59-FD4AA1F2A94A}"/>
              </a:ext>
            </a:extLst>
          </p:cNvPr>
          <p:cNvSpPr/>
          <p:nvPr/>
        </p:nvSpPr>
        <p:spPr>
          <a:xfrm>
            <a:off x="5824026" y="3540445"/>
            <a:ext cx="1905651" cy="4943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PCBs for </a:t>
            </a:r>
            <a:r>
              <a:rPr lang="en-US" sz="1400" err="1">
                <a:solidFill>
                  <a:schemeClr val="tx1"/>
                </a:solidFill>
              </a:rPr>
              <a:t>MicroLED</a:t>
            </a:r>
            <a:r>
              <a:rPr lang="en-US" sz="1400">
                <a:solidFill>
                  <a:schemeClr val="tx1"/>
                </a:solidFill>
              </a:rPr>
              <a:t> displays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3FC31E-58D3-7144-5D10-9C8476AC852E}"/>
              </a:ext>
            </a:extLst>
          </p:cNvPr>
          <p:cNvSpPr/>
          <p:nvPr/>
        </p:nvSpPr>
        <p:spPr>
          <a:xfrm>
            <a:off x="9797775" y="3024537"/>
            <a:ext cx="1574421" cy="75315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5G impact on consumer electronics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A03F9-B07D-DB59-92A2-3487EC5B87A9}"/>
              </a:ext>
            </a:extLst>
          </p:cNvPr>
          <p:cNvSpPr/>
          <p:nvPr/>
        </p:nvSpPr>
        <p:spPr>
          <a:xfrm>
            <a:off x="9797776" y="3863347"/>
            <a:ext cx="1574421" cy="7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Data center infrastructure and trends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41E327-D01F-58A0-FDD1-39810ED571DD}"/>
              </a:ext>
            </a:extLst>
          </p:cNvPr>
          <p:cNvSpPr/>
          <p:nvPr/>
        </p:nvSpPr>
        <p:spPr>
          <a:xfrm>
            <a:off x="5830279" y="4102784"/>
            <a:ext cx="1907042" cy="4901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Low-temp. semiconductors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40D81-52DE-38AA-B1CE-3FDEDFE54CE3}"/>
              </a:ext>
            </a:extLst>
          </p:cNvPr>
          <p:cNvSpPr/>
          <p:nvPr/>
        </p:nvSpPr>
        <p:spPr>
          <a:xfrm>
            <a:off x="3887616" y="4654995"/>
            <a:ext cx="1759330" cy="95640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Advanced materials for power electronics (e.g., Si</a:t>
            </a:r>
            <a:r>
              <a:rPr lang="en-US" sz="1400" baseline="-25000">
                <a:solidFill>
                  <a:schemeClr val="tx1"/>
                </a:solidFill>
              </a:rPr>
              <a:t>3</a:t>
            </a:r>
            <a:r>
              <a:rPr lang="en-US" sz="1400">
                <a:solidFill>
                  <a:schemeClr val="tx1"/>
                </a:solidFill>
              </a:rPr>
              <a:t>N</a:t>
            </a:r>
            <a:r>
              <a:rPr lang="en-US" sz="1400" baseline="-25000">
                <a:solidFill>
                  <a:schemeClr val="tx1"/>
                </a:solidFill>
              </a:rPr>
              <a:t>4</a:t>
            </a:r>
            <a:r>
              <a:rPr lang="en-US" sz="1400">
                <a:solidFill>
                  <a:schemeClr val="tx1"/>
                </a:solidFill>
              </a:rPr>
              <a:t>, alumina)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CB99BD-CFDF-C697-6663-D6D0E778EFD4}"/>
              </a:ext>
            </a:extLst>
          </p:cNvPr>
          <p:cNvSpPr/>
          <p:nvPr/>
        </p:nvSpPr>
        <p:spPr>
          <a:xfrm>
            <a:off x="9797775" y="4673404"/>
            <a:ext cx="1574421" cy="72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i="1">
                <a:solidFill>
                  <a:schemeClr val="tx1"/>
                </a:solidFill>
              </a:rPr>
              <a:t>… extensive experience in downstream uses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C528C9D-4800-AAA5-FE79-43A7CE90D64C}"/>
              </a:ext>
            </a:extLst>
          </p:cNvPr>
          <p:cNvSpPr/>
          <p:nvPr/>
        </p:nvSpPr>
        <p:spPr>
          <a:xfrm>
            <a:off x="2121430" y="5484106"/>
            <a:ext cx="1579379" cy="4656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MEMS sensors</a:t>
            </a: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1341F4B-6879-A3E8-AFB4-6E2D45A72AAC}"/>
              </a:ext>
            </a:extLst>
          </p:cNvPr>
          <p:cNvSpPr/>
          <p:nvPr/>
        </p:nvSpPr>
        <p:spPr>
          <a:xfrm>
            <a:off x="380998" y="3055501"/>
            <a:ext cx="1571677" cy="7365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Novel materials for capacitor design</a:t>
            </a: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0E6884-E423-C4DB-EDA4-F5A04AAEB789}"/>
              </a:ext>
            </a:extLst>
          </p:cNvPr>
          <p:cNvSpPr/>
          <p:nvPr/>
        </p:nvSpPr>
        <p:spPr>
          <a:xfrm>
            <a:off x="3887615" y="5701028"/>
            <a:ext cx="1759330" cy="72728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</a:rPr>
              <a:t>Packaging for 5G </a:t>
            </a:r>
            <a:r>
              <a:rPr lang="en-US" sz="1400" err="1">
                <a:solidFill>
                  <a:schemeClr val="tx1"/>
                </a:solidFill>
              </a:rPr>
              <a:t>mmWave</a:t>
            </a:r>
            <a:r>
              <a:rPr lang="en-US" sz="1400">
                <a:solidFill>
                  <a:schemeClr val="tx1"/>
                </a:solidFill>
              </a:rPr>
              <a:t> (LTCC)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EE29B-41BE-5E7D-2EEF-7DA62BA4F0D0}"/>
              </a:ext>
            </a:extLst>
          </p:cNvPr>
          <p:cNvSpPr txBox="1"/>
          <p:nvPr/>
        </p:nvSpPr>
        <p:spPr>
          <a:xfrm>
            <a:off x="10252856" y="1078236"/>
            <a:ext cx="1661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(Not Exhaustive)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4541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62697FBA-F457-1126-44DB-3D59D17F3F8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3" progId="TCLayout.ActiveDocument.1">
                  <p:embed/>
                </p:oleObj>
              </mc:Choice>
              <mc:Fallback>
                <p:oleObj name="think-cell Slide" r:id="rId3" imgW="423" imgH="42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697FBA-F457-1126-44DB-3D59D17F3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_title">
            <a:extLst>
              <a:ext uri="{FF2B5EF4-FFF2-40B4-BE49-F238E27FC236}">
                <a16:creationId xmlns:a16="http://schemas.microsoft.com/office/drawing/2014/main" id="{E3054AB6-16A1-FD50-AA35-2A0E48FD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We believe there could be several vectors to drive growth for &lt;Client&gt;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3A866-A144-19B5-AE51-B3955098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D58D1B-E4CD-4092-A64A-067BEFC75A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7" name="S_table">
            <a:extLst>
              <a:ext uri="{FF2B5EF4-FFF2-40B4-BE49-F238E27FC236}">
                <a16:creationId xmlns:a16="http://schemas.microsoft.com/office/drawing/2014/main" id="{0C1E7AE7-5D23-BC5E-4F7E-1A8D7828A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10732"/>
              </p:ext>
            </p:extLst>
          </p:nvPr>
        </p:nvGraphicFramePr>
        <p:xfrm>
          <a:off x="377670" y="1025099"/>
          <a:ext cx="11436660" cy="577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6306">
                  <a:extLst>
                    <a:ext uri="{9D8B030D-6E8A-4147-A177-3AD203B41FA5}">
                      <a16:colId xmlns:a16="http://schemas.microsoft.com/office/drawing/2014/main" val="4021353074"/>
                    </a:ext>
                  </a:extLst>
                </a:gridCol>
                <a:gridCol w="3659124">
                  <a:extLst>
                    <a:ext uri="{9D8B030D-6E8A-4147-A177-3AD203B41FA5}">
                      <a16:colId xmlns:a16="http://schemas.microsoft.com/office/drawing/2014/main" val="2330274825"/>
                    </a:ext>
                  </a:extLst>
                </a:gridCol>
                <a:gridCol w="6061230">
                  <a:extLst>
                    <a:ext uri="{9D8B030D-6E8A-4147-A177-3AD203B41FA5}">
                      <a16:colId xmlns:a16="http://schemas.microsoft.com/office/drawing/2014/main" val="4162737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US" sz="1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US" sz="1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US" sz="1200" i="1"/>
                        <a:t>Hypothesized Examples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9358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Share Gain in Core Markets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Deepen relationships and expand share-of-wallet at existing customers via improved service levels, broader product forms, and spec-in support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Target new accounts in high-growth end markets with favorable tailwinds (e.g., aerospace &amp; defense, medical devices, space)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Geographic expansion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Deepen penetration at existing OEM customers by expanding approved alloy specs and form factors (e.g., wire to preforms or PSPs at aerospace engine OEMs)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Multi-year supply agreements / consignment inventory programs with precious metal price-pass-through to reduce friction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Focused new customer acquisition in high-growth verticals (e.g., neuromodulation devices, solid-state battery cell joining)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Channel management / optimization (e.g., Kay brazing seminar as demand-gen funnel)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Partnerships to better serve high-growth geographies (e.g., mfg. JV or agent in India; deepen LOT-TEK partnership for EU growth)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3740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New Product &amp; Service Innovation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 alloy formulations or product forms to displace not-in-kind competition (e.g., active brazing alloys for ceramic-to-metal joining)</a:t>
                      </a:r>
                    </a:p>
                    <a:p>
                      <a:pPr marL="182880" marR="0" lvl="0" indent="-18288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Enhanced service offerings and new business models to capture value-based pricing (e.g., precious metal programs, scrap buy-back)</a:t>
                      </a:r>
                    </a:p>
                    <a:p>
                      <a:pPr marL="182880" marR="0" lvl="0" indent="-18288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Adjacent market expansion with existing or extended product portfolio (e.g., </a:t>
                      </a:r>
                      <a:r>
                        <a:rPr lang="en-US" sz="12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semicon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packaging, defense electronics)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 alloy solutions to address evolving customer performance needs (e.g., Pb-free solder replacements, high-temp nickel alloys for next-gen turbines, biocompatible PGM alloys for implantable neuromodulation)</a:t>
                      </a:r>
                    </a:p>
                    <a:p>
                      <a:pPr marL="182880" marR="0" lvl="0" indent="-18288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Expansion of application development capability – e.g., expand engineering team, systematize co-development process, invest in brazing lab and prototyping services, leverage Kay brazing expertise as co-development platform</a:t>
                      </a:r>
                      <a:endParaRPr lang="en-US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Downstream technical support – e.g., on-site process optimization consulting, AI-enabled braze quality diagnostics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3837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M&amp;A and Strategic Partnerships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Targeted M&amp;A to fill product, capability, and geographic gaps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into complementary engineered joining materials or precision fabricated forms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Upstream or downstream integration to extend the value chain (precious metal supply, fabricated assemblies)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Geographic expansion via acquisition (e.g., European specialty brazing players; APAC precious metal fabricators in India or Japan)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New technologies / capability acquisitions (e.g., thermal spray / PVD coating capabilities; advanced forming technologies)</a:t>
                      </a:r>
                    </a:p>
                    <a:p>
                      <a:pPr marL="182880" indent="-18288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Strategic partnerships with complementary engineered materials suppliers (e.g., thermal interface, conductive adhesives, diffusion bonding) to offer bundled solutions and cross-sell to shared OEM customers; expand portfolio in similar areas</a:t>
                      </a:r>
                    </a:p>
                    <a:p>
                      <a:pPr marL="182880" marR="0" lvl="0" indent="-18288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Upstream precious metal supply integration or partnerships (e.g., with PGM refiner)</a:t>
                      </a:r>
                    </a:p>
                    <a:p>
                      <a:pPr marL="182880" indent="-182880" algn="l" defTabSz="914400" rtl="0" eaLnBrk="1" latinLnBrk="0" hangingPunct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Forward integration into precision fabricated assemblies (e.g., brazed subassemblies)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544845"/>
                  </a:ext>
                </a:extLst>
              </a:tr>
            </a:tbl>
          </a:graphicData>
        </a:graphic>
      </p:graphicFrame>
      <p:sp>
        <p:nvSpPr>
          <p:cNvPr id="6" name="S_subhead">
            <a:extLst>
              <a:ext uri="{FF2B5EF4-FFF2-40B4-BE49-F238E27FC236}">
                <a16:creationId xmlns:a16="http://schemas.microsoft.com/office/drawing/2014/main" id="{92F851DC-E7CC-7F68-7403-42ED35227249}"/>
              </a:ext>
            </a:extLst>
          </p:cNvPr>
          <p:cNvSpPr txBox="1"/>
          <p:nvPr/>
        </p:nvSpPr>
        <p:spPr>
          <a:xfrm>
            <a:off x="377670" y="1049457"/>
            <a:ext cx="5212080" cy="243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all" spc="0" normalizeH="0" baseline="0" noProof="0">
                <a:ln>
                  <a:noFill/>
                </a:ln>
                <a:solidFill>
                  <a:srgbClr val="1E4C7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GROWTH LEVERS TO EXPLORE</a:t>
            </a:r>
            <a:endParaRPr kumimoji="0" lang="en-US" sz="1800" b="1" i="0" u="none" strike="noStrike" kern="1200" cap="all" spc="0" normalizeH="0" baseline="30000" noProof="0">
              <a:ln>
                <a:noFill/>
              </a:ln>
              <a:solidFill>
                <a:srgbClr val="1E4C7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01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C25EE99-44B7-F0F9-6375-4087E3818B3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3" progId="TCLayout.ActiveDocument.1">
                  <p:embed/>
                </p:oleObj>
              </mc:Choice>
              <mc:Fallback>
                <p:oleObj name="think-cell Slide" r:id="rId3" imgW="423" imgH="42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25EE99-44B7-F0F9-6375-4087E3818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_title">
            <a:extLst>
              <a:ext uri="{FF2B5EF4-FFF2-40B4-BE49-F238E27FC236}">
                <a16:creationId xmlns:a16="http://schemas.microsoft.com/office/drawing/2014/main" id="{EF64CE49-B5FD-FE68-B779-6CB2795A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We will work closely with &lt;Client&gt; to build a growth strategy and then execute to drive new revenue and enterprise value</a:t>
            </a:r>
          </a:p>
        </p:txBody>
      </p:sp>
      <p:sp>
        <p:nvSpPr>
          <p:cNvPr id="6" name="S_module1">
            <a:extLst>
              <a:ext uri="{FF2B5EF4-FFF2-40B4-BE49-F238E27FC236}">
                <a16:creationId xmlns:a16="http://schemas.microsoft.com/office/drawing/2014/main" id="{28C2227D-78C8-F294-6D52-60D4AF2F433B}"/>
              </a:ext>
            </a:extLst>
          </p:cNvPr>
          <p:cNvSpPr/>
          <p:nvPr/>
        </p:nvSpPr>
        <p:spPr>
          <a:xfrm>
            <a:off x="380998" y="1062752"/>
            <a:ext cx="7723096" cy="571189"/>
          </a:xfrm>
          <a:prstGeom prst="homePlate">
            <a:avLst>
              <a:gd name="adj" fmla="val 21575"/>
            </a:avLst>
          </a:prstGeom>
          <a:solidFill>
            <a:srgbClr val="1E4C7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Module 1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: 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Calibri"/>
              </a:rPr>
              <a:t>Build Tactical Growth Strategy</a:t>
            </a:r>
          </a:p>
        </p:txBody>
      </p:sp>
      <p:sp>
        <p:nvSpPr>
          <p:cNvPr id="7" name="S_module2">
            <a:extLst>
              <a:ext uri="{FF2B5EF4-FFF2-40B4-BE49-F238E27FC236}">
                <a16:creationId xmlns:a16="http://schemas.microsoft.com/office/drawing/2014/main" id="{1BA994D6-5A7B-3D9D-9EE6-F34FC529FEF3}"/>
              </a:ext>
            </a:extLst>
          </p:cNvPr>
          <p:cNvSpPr/>
          <p:nvPr/>
        </p:nvSpPr>
        <p:spPr>
          <a:xfrm>
            <a:off x="8104095" y="1062752"/>
            <a:ext cx="3706908" cy="571021"/>
          </a:xfrm>
          <a:prstGeom prst="chevron">
            <a:avLst>
              <a:gd name="adj" fmla="val 21491"/>
            </a:avLst>
          </a:prstGeom>
          <a:solidFill>
            <a:srgbClr val="1E4C7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Module 2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kern="0" noProof="0">
                <a:solidFill>
                  <a:prstClr val="white"/>
                </a:solidFill>
              </a:rPr>
              <a:t>Execute &amp; Drive Growth</a:t>
            </a: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16" name="S_subhead">
            <a:extLst>
              <a:ext uri="{FF2B5EF4-FFF2-40B4-BE49-F238E27FC236}">
                <a16:creationId xmlns:a16="http://schemas.microsoft.com/office/drawing/2014/main" id="{0FE638EF-B5B3-11BE-CF22-00D065FE0232}"/>
              </a:ext>
            </a:extLst>
          </p:cNvPr>
          <p:cNvSpPr txBox="1"/>
          <p:nvPr/>
        </p:nvSpPr>
        <p:spPr>
          <a:xfrm>
            <a:off x="377670" y="1663000"/>
            <a:ext cx="5081836" cy="255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en-US" sz="1600" b="1" cap="all" noProof="0">
                <a:solidFill>
                  <a:schemeClr val="accent2"/>
                </a:solidFill>
              </a:rPr>
              <a:t>Approach Overview</a:t>
            </a:r>
          </a:p>
        </p:txBody>
      </p:sp>
      <p:sp>
        <p:nvSpPr>
          <p:cNvPr id="17" name="S_left_body">
            <a:extLst>
              <a:ext uri="{FF2B5EF4-FFF2-40B4-BE49-F238E27FC236}">
                <a16:creationId xmlns:a16="http://schemas.microsoft.com/office/drawing/2014/main" id="{F9700778-CF8B-A439-8E68-ADC4A70BAB1B}"/>
              </a:ext>
            </a:extLst>
          </p:cNvPr>
          <p:cNvSpPr txBox="1"/>
          <p:nvPr/>
        </p:nvSpPr>
        <p:spPr>
          <a:xfrm>
            <a:off x="377669" y="1954303"/>
            <a:ext cx="7574025" cy="44464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69545" indent="-169545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b="1"/>
              <a:t>Conduct individual interviews with &lt;Client&gt; leadership team</a:t>
            </a:r>
            <a:r>
              <a:rPr lang="en-US" sz="1400"/>
              <a:t> followed by a </a:t>
            </a:r>
            <a:r>
              <a:rPr lang="en-US" sz="1400" b="1"/>
              <a:t>project launch meeting</a:t>
            </a:r>
            <a:r>
              <a:rPr lang="en-US" sz="1400"/>
              <a:t> to confirm project objectives and definition of success, review &lt;Client&gt;’s business, product lines, existing value creation plan, and technical capabilities, discuss existing knowledge and criteria for growth initiatives, and schedule biweekly updates</a:t>
            </a:r>
            <a:endParaRPr lang="en-US"/>
          </a:p>
          <a:p>
            <a:pPr marL="169545" indent="-169545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/>
              <a:t>Launch an in-depth effort to build a growth strategy for &lt;Client&gt;:</a:t>
            </a:r>
          </a:p>
          <a:p>
            <a:pPr lvl="1" indent="-233045">
              <a:spcBef>
                <a:spcPts val="500"/>
              </a:spcBef>
              <a:buFont typeface="Aptos" panose="020B0004020202020204" pitchFamily="34" charset="0"/>
              <a:buChar char="–"/>
            </a:pPr>
            <a:r>
              <a:rPr lang="en-US" sz="1400" b="1"/>
              <a:t>Growth in Adjacent Markets in North America &amp; Europe</a:t>
            </a:r>
            <a:r>
              <a:rPr lang="en-US" sz="1400"/>
              <a:t>: Begin by engaging a subset of current and prospective customers to understand &lt;Client&gt;’s value proposition and explore potential opportunities for organic growth &amp; innovation; then, conduct an extensive effort to identify new actionable applications where &lt;Client&gt; can win with existing products, slight tweaks to current formulations, or innovation &amp; new product development; profile and prioritize opportunities based on the commercial attractiveness (TAM, growth, margins), tech fit, &amp; &lt;Client&gt;’s right to win; build strategies to pursue the prioritized apps and drive sales including specific customers / partners to engage, CTQ specs, etc.</a:t>
            </a:r>
          </a:p>
          <a:p>
            <a:pPr lvl="1" indent="-233045">
              <a:spcBef>
                <a:spcPts val="500"/>
              </a:spcBef>
              <a:buFont typeface="Aptos" panose="020B0004020202020204" pitchFamily="34" charset="0"/>
              <a:buChar char="–"/>
            </a:pPr>
            <a:r>
              <a:rPr lang="en-US" sz="1400" b="1"/>
              <a:t>Strategic Portfolio Expansion</a:t>
            </a:r>
            <a:r>
              <a:rPr lang="en-US" sz="1400"/>
              <a:t>: Based on opportunities prioritized in Part A, evaluate strategic moves in North America &amp; Europe required to expand &lt;Client&gt;’s portfolio and tap new growth such as downstream integration (e.g., offering BMC, SMC, compounding), entering into new types of resins (e.g., epoxy, PUR, other thermosets), M&amp;A (e.g., to add products, consolidate share), and others</a:t>
            </a:r>
          </a:p>
          <a:p>
            <a:pPr marL="169545" indent="-169545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/>
              <a:t>Work with &lt;Client&gt; to </a:t>
            </a:r>
            <a:r>
              <a:rPr lang="en-US" sz="1400" b="1"/>
              <a:t>prioritize growth initiatives </a:t>
            </a:r>
            <a:r>
              <a:rPr lang="en-US" sz="1400"/>
              <a:t>for execution in Module 2</a:t>
            </a:r>
          </a:p>
          <a:p>
            <a:pPr lvl="1" indent="-233363">
              <a:spcBef>
                <a:spcPts val="500"/>
              </a:spcBef>
              <a:buFont typeface="Aptos" panose="020B0004020202020204" pitchFamily="34" charset="0"/>
              <a:buChar char="–"/>
            </a:pPr>
            <a:endParaRPr lang="en-US" sz="1400"/>
          </a:p>
          <a:p>
            <a:pPr lvl="1" indent="-233363">
              <a:spcBef>
                <a:spcPts val="500"/>
              </a:spcBef>
              <a:buFont typeface="Aptos" panose="020B0004020202020204" pitchFamily="34" charset="0"/>
              <a:buChar char="–"/>
            </a:pPr>
            <a:endParaRPr lang="en-US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67B432-9FF1-E24D-DB34-00E009613F45}"/>
              </a:ext>
            </a:extLst>
          </p:cNvPr>
          <p:cNvSpPr/>
          <p:nvPr/>
        </p:nvSpPr>
        <p:spPr>
          <a:xfrm>
            <a:off x="533397" y="3145735"/>
            <a:ext cx="228602" cy="2286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2C2847E-1A4F-469A-C0B5-5B8CB2F01534}"/>
              </a:ext>
            </a:extLst>
          </p:cNvPr>
          <p:cNvSpPr/>
          <p:nvPr/>
        </p:nvSpPr>
        <p:spPr>
          <a:xfrm>
            <a:off x="533397" y="4916370"/>
            <a:ext cx="228602" cy="2286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FFE821-262C-B9C4-3E2B-E16823E65917}"/>
              </a:ext>
            </a:extLst>
          </p:cNvPr>
          <p:cNvCxnSpPr>
            <a:cxnSpLocks/>
          </p:cNvCxnSpPr>
          <p:nvPr/>
        </p:nvCxnSpPr>
        <p:spPr>
          <a:xfrm>
            <a:off x="8041339" y="1918446"/>
            <a:ext cx="0" cy="448235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_right_body">
            <a:extLst>
              <a:ext uri="{FF2B5EF4-FFF2-40B4-BE49-F238E27FC236}">
                <a16:creationId xmlns:a16="http://schemas.microsoft.com/office/drawing/2014/main" id="{29C2F92A-4DB1-1D2B-1996-168080959A8B}"/>
              </a:ext>
            </a:extLst>
          </p:cNvPr>
          <p:cNvSpPr txBox="1"/>
          <p:nvPr/>
        </p:nvSpPr>
        <p:spPr>
          <a:xfrm>
            <a:off x="8104094" y="1954303"/>
            <a:ext cx="3692671" cy="44464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400"/>
              <a:t>Work with &lt;Client&gt; to execute on the prioritized growth initiatives from Module 1:</a:t>
            </a:r>
          </a:p>
          <a:p>
            <a:pPr lvl="1" indent="-233363">
              <a:spcBef>
                <a:spcPts val="500"/>
              </a:spcBef>
              <a:buFont typeface="Aptos" panose="020B0004020202020204" pitchFamily="34" charset="0"/>
              <a:buChar char="–"/>
            </a:pPr>
            <a:r>
              <a:rPr lang="en-US" sz="1400"/>
              <a:t>Engage new customers, gauge their interest in &lt;Client&gt;’s offerings, determine requirements, provide samples, and generate sales for the top adjacent applications</a:t>
            </a:r>
          </a:p>
          <a:p>
            <a:pPr lvl="1" indent="-233363">
              <a:spcBef>
                <a:spcPts val="500"/>
              </a:spcBef>
              <a:buFont typeface="Aptos" panose="020B0004020202020204" pitchFamily="34" charset="0"/>
              <a:buChar char="–"/>
            </a:pPr>
            <a:r>
              <a:rPr lang="en-US" sz="1400"/>
              <a:t>Execute growth strategy, which may include finding and engaging M&amp;A targets, working to launch a product line of SMC &amp; BMC products, and other support</a:t>
            </a:r>
          </a:p>
          <a:p>
            <a:pPr lvl="1" indent="-233363">
              <a:spcBef>
                <a:spcPts val="500"/>
              </a:spcBef>
              <a:buFont typeface="Aptos" panose="020B0004020202020204" pitchFamily="34" charset="0"/>
              <a:buChar char="–"/>
            </a:pPr>
            <a:endParaRPr lang="en-US" sz="1400"/>
          </a:p>
          <a:p>
            <a:pPr marL="169863" indent="-16986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E6521B-F69D-9C95-8289-17C00DBFAF7B}"/>
              </a:ext>
            </a:extLst>
          </p:cNvPr>
          <p:cNvCxnSpPr>
            <a:cxnSpLocks/>
          </p:cNvCxnSpPr>
          <p:nvPr/>
        </p:nvCxnSpPr>
        <p:spPr>
          <a:xfrm>
            <a:off x="377667" y="6690966"/>
            <a:ext cx="7663672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_timeframe1">
            <a:extLst>
              <a:ext uri="{FF2B5EF4-FFF2-40B4-BE49-F238E27FC236}">
                <a16:creationId xmlns:a16="http://schemas.microsoft.com/office/drawing/2014/main" id="{D155A2A3-EBE7-7538-3528-EB8C1904FB2A}"/>
              </a:ext>
            </a:extLst>
          </p:cNvPr>
          <p:cNvSpPr/>
          <p:nvPr/>
        </p:nvSpPr>
        <p:spPr>
          <a:xfrm>
            <a:off x="3739626" y="6585803"/>
            <a:ext cx="1005840" cy="185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~4 months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7AC518D-2687-CA7D-D712-2ED7875B4F6E}"/>
              </a:ext>
            </a:extLst>
          </p:cNvPr>
          <p:cNvCxnSpPr>
            <a:cxnSpLocks/>
          </p:cNvCxnSpPr>
          <p:nvPr/>
        </p:nvCxnSpPr>
        <p:spPr>
          <a:xfrm>
            <a:off x="8041339" y="6690966"/>
            <a:ext cx="3769664" cy="0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_timeframe2">
            <a:extLst>
              <a:ext uri="{FF2B5EF4-FFF2-40B4-BE49-F238E27FC236}">
                <a16:creationId xmlns:a16="http://schemas.microsoft.com/office/drawing/2014/main" id="{C80DC7DE-AC4F-B350-848B-55A0C5F1FC3B}"/>
              </a:ext>
            </a:extLst>
          </p:cNvPr>
          <p:cNvSpPr/>
          <p:nvPr/>
        </p:nvSpPr>
        <p:spPr>
          <a:xfrm>
            <a:off x="9217917" y="6585803"/>
            <a:ext cx="1465023" cy="198996"/>
          </a:xfrm>
          <a:prstGeom prst="rect">
            <a:avLst/>
          </a:prstGeom>
          <a:solidFill>
            <a:schemeClr val="accent6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~9 months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402F9C-81D1-06EB-0E81-512D859B8491}"/>
              </a:ext>
            </a:extLst>
          </p:cNvPr>
          <p:cNvSpPr/>
          <p:nvPr/>
        </p:nvSpPr>
        <p:spPr>
          <a:xfrm>
            <a:off x="8278904" y="2436328"/>
            <a:ext cx="228602" cy="2286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A9B0B4-0163-D201-74AD-E058FCFC45C3}"/>
              </a:ext>
            </a:extLst>
          </p:cNvPr>
          <p:cNvSpPr/>
          <p:nvPr/>
        </p:nvSpPr>
        <p:spPr>
          <a:xfrm>
            <a:off x="8278904" y="3569984"/>
            <a:ext cx="228602" cy="22860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1F64E6-A69D-F75A-C20A-F56804A8B905}"/>
              </a:ext>
            </a:extLst>
          </p:cNvPr>
          <p:cNvCxnSpPr/>
          <p:nvPr/>
        </p:nvCxnSpPr>
        <p:spPr>
          <a:xfrm>
            <a:off x="377667" y="6599795"/>
            <a:ext cx="0" cy="1850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2AC660-0934-95F5-9360-CC51D73D014F}"/>
              </a:ext>
            </a:extLst>
          </p:cNvPr>
          <p:cNvCxnSpPr/>
          <p:nvPr/>
        </p:nvCxnSpPr>
        <p:spPr>
          <a:xfrm>
            <a:off x="8041339" y="6599795"/>
            <a:ext cx="0" cy="1850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9F68FAF-C0FF-D175-277F-DC5B83C63732}"/>
              </a:ext>
            </a:extLst>
          </p:cNvPr>
          <p:cNvCxnSpPr/>
          <p:nvPr/>
        </p:nvCxnSpPr>
        <p:spPr>
          <a:xfrm>
            <a:off x="11806914" y="6599795"/>
            <a:ext cx="0" cy="18500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84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736DE-0B07-EA7C-8136-EBC487C4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3B70CA0-E94C-F462-222E-7D583894A1B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3" progId="TCLayout.ActiveDocument.1">
                  <p:embed/>
                </p:oleObj>
              </mc:Choice>
              <mc:Fallback>
                <p:oleObj name="think-cell Slide" r:id="rId3" imgW="423" imgH="42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B70CA0-E94C-F462-222E-7D583894A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_title">
            <a:extLst>
              <a:ext uri="{FF2B5EF4-FFF2-40B4-BE49-F238E27FC236}">
                <a16:creationId xmlns:a16="http://schemas.microsoft.com/office/drawing/2014/main" id="{EF64DEB3-C69B-B87C-560F-EE69235B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We will identify adjacent applications where &lt;Client&gt; has a right to win to drive profitable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70FC6-EC20-BFBF-6AFE-B485635C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S_module1">
            <a:extLst>
              <a:ext uri="{FF2B5EF4-FFF2-40B4-BE49-F238E27FC236}">
                <a16:creationId xmlns:a16="http://schemas.microsoft.com/office/drawing/2014/main" id="{E759C719-67C5-4081-17FE-A10FFACD2862}"/>
              </a:ext>
            </a:extLst>
          </p:cNvPr>
          <p:cNvSpPr/>
          <p:nvPr/>
        </p:nvSpPr>
        <p:spPr>
          <a:xfrm>
            <a:off x="380998" y="1062752"/>
            <a:ext cx="7723096" cy="571189"/>
          </a:xfrm>
          <a:prstGeom prst="homePlate">
            <a:avLst>
              <a:gd name="adj" fmla="val 21575"/>
            </a:avLst>
          </a:prstGeom>
          <a:solidFill>
            <a:srgbClr val="1E4C7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Module 1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: 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Calibri"/>
              </a:rPr>
              <a:t>Build Tactical Growth Strategy</a:t>
            </a:r>
          </a:p>
        </p:txBody>
      </p:sp>
      <p:sp>
        <p:nvSpPr>
          <p:cNvPr id="7" name="S_module2">
            <a:extLst>
              <a:ext uri="{FF2B5EF4-FFF2-40B4-BE49-F238E27FC236}">
                <a16:creationId xmlns:a16="http://schemas.microsoft.com/office/drawing/2014/main" id="{828236EB-8415-0207-52A0-DCC25F343AF0}"/>
              </a:ext>
            </a:extLst>
          </p:cNvPr>
          <p:cNvSpPr/>
          <p:nvPr/>
        </p:nvSpPr>
        <p:spPr>
          <a:xfrm>
            <a:off x="8104095" y="1062752"/>
            <a:ext cx="3706906" cy="571021"/>
          </a:xfrm>
          <a:prstGeom prst="chevron">
            <a:avLst>
              <a:gd name="adj" fmla="val 21491"/>
            </a:avLst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Module 2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kern="0" noProof="0">
                <a:solidFill>
                  <a:schemeClr val="bg1">
                    <a:lumMod val="50000"/>
                  </a:schemeClr>
                </a:solidFill>
              </a:rPr>
              <a:t>Execute &amp; Drive Growth</a:t>
            </a: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sp>
        <p:nvSpPr>
          <p:cNvPr id="9" name="S_subhead">
            <a:extLst>
              <a:ext uri="{FF2B5EF4-FFF2-40B4-BE49-F238E27FC236}">
                <a16:creationId xmlns:a16="http://schemas.microsoft.com/office/drawing/2014/main" id="{E518DFB4-1B74-099F-CA75-7DC3874A43AC}"/>
              </a:ext>
            </a:extLst>
          </p:cNvPr>
          <p:cNvSpPr txBox="1"/>
          <p:nvPr/>
        </p:nvSpPr>
        <p:spPr>
          <a:xfrm>
            <a:off x="744279" y="1684264"/>
            <a:ext cx="7601068" cy="2554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r>
              <a:rPr lang="en-US" sz="1600" b="1" cap="all" noProof="0" dirty="0">
                <a:solidFill>
                  <a:schemeClr val="accent2"/>
                </a:solidFill>
              </a:rPr>
              <a:t>Growth in Adjacent Markets in North America &amp; Europe</a:t>
            </a:r>
          </a:p>
        </p:txBody>
      </p:sp>
      <p:sp>
        <p:nvSpPr>
          <p:cNvPr id="21" name="S_body">
            <a:extLst>
              <a:ext uri="{FF2B5EF4-FFF2-40B4-BE49-F238E27FC236}">
                <a16:creationId xmlns:a16="http://schemas.microsoft.com/office/drawing/2014/main" id="{04274BDE-261D-0189-EB63-E60057298A80}"/>
              </a:ext>
            </a:extLst>
          </p:cNvPr>
          <p:cNvSpPr txBox="1"/>
          <p:nvPr/>
        </p:nvSpPr>
        <p:spPr>
          <a:xfrm>
            <a:off x="377670" y="1991514"/>
            <a:ext cx="6099330" cy="44032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69863" indent="-1698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 goal is to identify </a:t>
            </a:r>
            <a:r>
              <a:rPr lang="en-US" sz="1400" b="1" dirty="0"/>
              <a:t>new actionable applications </a:t>
            </a:r>
            <a:r>
              <a:rPr lang="en-US" sz="1400" b="1"/>
              <a:t>where &lt;Client&gt; </a:t>
            </a:r>
            <a:r>
              <a:rPr lang="en-US" sz="1400" b="1" dirty="0"/>
              <a:t>can win</a:t>
            </a:r>
            <a:r>
              <a:rPr lang="en-US" sz="1400" dirty="0"/>
              <a:t> with either existing products, slight tweaks to current formulations, or innovation &amp; new product development</a:t>
            </a:r>
          </a:p>
          <a:p>
            <a:pPr marL="169863" indent="-1698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We will begin by engaging a subset of current and prospective customers to </a:t>
            </a:r>
            <a:r>
              <a:rPr lang="en-US" sz="1400"/>
              <a:t>understand &lt;Client&gt;’s </a:t>
            </a:r>
            <a:r>
              <a:rPr lang="en-US" sz="1400" dirty="0"/>
              <a:t>value proposition and explore potential opportunities for organic growth &amp; innovation</a:t>
            </a:r>
          </a:p>
          <a:p>
            <a:pPr marL="169863" indent="-1698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We will then conduct extensive secondary research and engage with additional customers and industry experts in North America &amp; Europe to identify applications in growing areas (e.g., utility grid hardware, data centers, telecom, etc.); we will also </a:t>
            </a:r>
            <a:r>
              <a:rPr lang="en-US" sz="1400"/>
              <a:t>evaluate &lt;Client&gt;’s </a:t>
            </a:r>
            <a:r>
              <a:rPr lang="en-US" sz="1400" dirty="0"/>
              <a:t>existing innovation pipeline and identify additional innovation opportunities</a:t>
            </a:r>
          </a:p>
          <a:p>
            <a:pPr marL="169863" indent="-1698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Each application will be profiled, including:</a:t>
            </a:r>
          </a:p>
          <a:p>
            <a:pPr lvl="1" indent="-169863">
              <a:spcBef>
                <a:spcPts val="300"/>
              </a:spcBef>
              <a:buFont typeface="Aptos" panose="020B0004020202020204" pitchFamily="34" charset="0"/>
              <a:buChar char="–"/>
            </a:pPr>
            <a:r>
              <a:rPr lang="en-US" sz="1400" dirty="0"/>
              <a:t>Commercial attractiveness (TAM, growth, margins)</a:t>
            </a:r>
          </a:p>
          <a:p>
            <a:pPr lvl="1" indent="-169863">
              <a:spcBef>
                <a:spcPts val="300"/>
              </a:spcBef>
              <a:buFont typeface="Aptos" panose="020B0004020202020204" pitchFamily="34" charset="0"/>
              <a:buChar char="–"/>
            </a:pPr>
            <a:r>
              <a:rPr lang="en-US" sz="1400" dirty="0"/>
              <a:t>Incumbent solutions</a:t>
            </a:r>
          </a:p>
          <a:p>
            <a:pPr lvl="1" indent="-169863">
              <a:spcBef>
                <a:spcPts val="300"/>
              </a:spcBef>
              <a:buFont typeface="Aptos" panose="020B0004020202020204" pitchFamily="34" charset="0"/>
              <a:buChar char="–"/>
            </a:pPr>
            <a:r>
              <a:rPr lang="en-US" sz="1400" dirty="0"/>
              <a:t>Unmet customer needs</a:t>
            </a:r>
          </a:p>
          <a:p>
            <a:pPr lvl="1" indent="-169863">
              <a:spcBef>
                <a:spcPts val="300"/>
              </a:spcBef>
              <a:buFont typeface="Aptos" panose="020B0004020202020204" pitchFamily="34" charset="0"/>
              <a:buChar char="–"/>
            </a:pPr>
            <a:r>
              <a:rPr lang="en-US" sz="1400" dirty="0"/>
              <a:t>Technical fit </a:t>
            </a:r>
            <a:r>
              <a:rPr lang="en-US" sz="1400"/>
              <a:t>with &lt;Client&gt;’s </a:t>
            </a:r>
            <a:r>
              <a:rPr lang="en-US" sz="1400" dirty="0"/>
              <a:t>products and capabilities</a:t>
            </a:r>
          </a:p>
          <a:p>
            <a:pPr lvl="1" indent="-169863">
              <a:spcBef>
                <a:spcPts val="300"/>
              </a:spcBef>
              <a:buFont typeface="Aptos" panose="020B0004020202020204" pitchFamily="34" charset="0"/>
              <a:buChar char="–"/>
            </a:pPr>
            <a:r>
              <a:rPr lang="en-US" sz="1400"/>
              <a:t>&lt;Client&gt;’s </a:t>
            </a:r>
            <a:r>
              <a:rPr lang="en-US" sz="1400" dirty="0"/>
              <a:t>right to win</a:t>
            </a:r>
          </a:p>
          <a:p>
            <a:pPr marL="169863" lvl="1" indent="-169863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Then, we will prioritize applications and build strategies to pursue each, including specific customers / partners to engage, CTQ specifications required by customers, and value </a:t>
            </a:r>
            <a:r>
              <a:rPr lang="en-US" sz="1400"/>
              <a:t>propositions &lt;Client&gt; </a:t>
            </a:r>
            <a:r>
              <a:rPr lang="en-US" sz="1400" dirty="0"/>
              <a:t>must provide to win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F816A-6220-2DA5-661B-E9A600A83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1050" y="1847850"/>
            <a:ext cx="4956281" cy="24084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A840C-2AC0-02F9-FA5C-C7167CBE6ED3}"/>
              </a:ext>
            </a:extLst>
          </p:cNvPr>
          <p:cNvSpPr txBox="1">
            <a:spLocks/>
          </p:cNvSpPr>
          <p:nvPr/>
        </p:nvSpPr>
        <p:spPr>
          <a:xfrm>
            <a:off x="6841051" y="4339660"/>
            <a:ext cx="4969949" cy="463659"/>
          </a:xfrm>
          <a:prstGeom prst="rect">
            <a:avLst/>
          </a:prstGeom>
        </p:spPr>
        <p:txBody>
          <a:bodyPr lIns="0" tIns="0" rIns="0" bIns="0"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400"/>
              </a:spcBef>
              <a:buNone/>
            </a:pPr>
            <a:r>
              <a:rPr lang="en-US" sz="1400" i="1"/>
              <a:t>Example of applications profiled during Module 1 from a previous Newry project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57E2B99-F2FE-FF3E-67A3-A8C0AC0CD288}"/>
              </a:ext>
            </a:extLst>
          </p:cNvPr>
          <p:cNvSpPr/>
          <p:nvPr/>
        </p:nvSpPr>
        <p:spPr>
          <a:xfrm>
            <a:off x="382374" y="1660353"/>
            <a:ext cx="303006" cy="3030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" name="S_example_box">
            <a:extLst>
              <a:ext uri="{FF2B5EF4-FFF2-40B4-BE49-F238E27FC236}">
                <a16:creationId xmlns:a16="http://schemas.microsoft.com/office/drawing/2014/main" id="{7E437794-75DC-40F7-A4D6-4026676A25DA}"/>
              </a:ext>
            </a:extLst>
          </p:cNvPr>
          <p:cNvSpPr/>
          <p:nvPr/>
        </p:nvSpPr>
        <p:spPr>
          <a:xfrm>
            <a:off x="6781801" y="4852306"/>
            <a:ext cx="5014964" cy="1870413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300"/>
              </a:spcBef>
            </a:pPr>
            <a:r>
              <a:rPr lang="en-US" sz="1400" b="1">
                <a:solidFill>
                  <a:schemeClr val="tx1"/>
                </a:solidFill>
              </a:rPr>
              <a:t>Newry Approach to Growth in Europe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Most of Newry’s clients operate globally, and we have frequent experience working with European customers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To uncover opportunities in Europe, we will </a:t>
            </a:r>
            <a:r>
              <a:rPr lang="en-US" sz="1400" b="1">
                <a:solidFill>
                  <a:schemeClr val="tx1"/>
                </a:solidFill>
              </a:rPr>
              <a:t>leverage our global network of chemicals &amp; materials contacts</a:t>
            </a:r>
            <a:r>
              <a:rPr lang="en-US" sz="1400">
                <a:solidFill>
                  <a:schemeClr val="tx1"/>
                </a:solidFill>
              </a:rPr>
              <a:t>, </a:t>
            </a:r>
            <a:r>
              <a:rPr lang="en-US" sz="1400" b="1">
                <a:solidFill>
                  <a:schemeClr val="tx1"/>
                </a:solidFill>
              </a:rPr>
              <a:t>attend JEC</a:t>
            </a:r>
            <a:r>
              <a:rPr lang="en-US" sz="1400">
                <a:solidFill>
                  <a:schemeClr val="tx1"/>
                </a:solidFill>
              </a:rPr>
              <a:t> and other conferences in the EU, </a:t>
            </a:r>
            <a:r>
              <a:rPr lang="en-US" sz="1400" b="1">
                <a:solidFill>
                  <a:schemeClr val="tx1"/>
                </a:solidFill>
              </a:rPr>
              <a:t>investigate key European trends and market shifts</a:t>
            </a:r>
            <a:r>
              <a:rPr lang="en-US" sz="1400">
                <a:solidFill>
                  <a:schemeClr val="tx1"/>
                </a:solidFill>
              </a:rPr>
              <a:t>, tap expert networks, and other sources</a:t>
            </a:r>
          </a:p>
        </p:txBody>
      </p:sp>
    </p:spTree>
    <p:extLst>
      <p:ext uri="{BB962C8B-B14F-4D97-AF65-F5344CB8AC3E}">
        <p14:creationId xmlns:p14="http://schemas.microsoft.com/office/powerpoint/2010/main" val="71060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FBEAFF4-5C9A-DC04-01DA-3FA52404CD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5" imgH="484" progId="TCLayout.ActiveDocument.1">
                  <p:embed/>
                </p:oleObj>
              </mc:Choice>
              <mc:Fallback>
                <p:oleObj name="think-cell Slide" r:id="rId3" imgW="495" imgH="484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BEAFF4-5C9A-DC04-01DA-3FA52404CD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_title">
            <a:extLst>
              <a:ext uri="{FF2B5EF4-FFF2-40B4-BE49-F238E27FC236}">
                <a16:creationId xmlns:a16="http://schemas.microsoft.com/office/drawing/2014/main" id="{7A60BB11-B1E3-088E-B9F0-F7DDC7908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Newry will map the full application landscape, assess competing technologies, and build a bottom-up market model through 2034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B2C12D-3429-43D1-D643-2CBBD04E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S_body">
            <a:extLst>
              <a:ext uri="{FF2B5EF4-FFF2-40B4-BE49-F238E27FC236}">
                <a16:creationId xmlns:a16="http://schemas.microsoft.com/office/drawing/2014/main" id="{054EE2F1-BFD1-E9BF-AB95-1D6FF00A7A13}"/>
              </a:ext>
            </a:extLst>
          </p:cNvPr>
          <p:cNvSpPr txBox="1"/>
          <p:nvPr/>
        </p:nvSpPr>
        <p:spPr>
          <a:xfrm>
            <a:off x="381000" y="1922467"/>
            <a:ext cx="5576456" cy="4508927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>
                <a:solidFill>
                  <a:schemeClr val="accent2"/>
                </a:solidFill>
              </a:rPr>
              <a:t>MARKET &amp; TECHNOLOGY LANDSCAPE</a:t>
            </a:r>
            <a:endParaRPr lang="en-US" sz="1700" b="1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Map applications, performance metrics, and qualification standards </a:t>
            </a:r>
            <a:r>
              <a:rPr lang="en-US" sz="1600"/>
              <a:t>across EV, data center / AI, 5G / telecom, consumer electronics, industrial electronics, and emerging end markets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Assess competing capacitor technologies </a:t>
            </a:r>
            <a:r>
              <a:rPr lang="en-US" sz="1600"/>
              <a:t>on performance, cost, scalability, and regulatory / ESG factors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Construct a 5 – 10-year technology roadmap </a:t>
            </a:r>
            <a:r>
              <a:rPr lang="en-US" sz="1600"/>
              <a:t>with maturity and sector adoption probabilities, using patents, R&amp;D disclosures, and conference intelligence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Build a bottom-up market model </a:t>
            </a:r>
            <a:r>
              <a:rPr lang="en-US" sz="1600"/>
              <a:t>– device volumes × penetration × ASP – producing volume and value forecasts through 2034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Assess market potential and risks </a:t>
            </a:r>
            <a:r>
              <a:rPr lang="en-US" sz="1600"/>
              <a:t>– saturation, commoditization, reduced innovation need, and enabling / limiting factors that shape long-term relevance</a:t>
            </a:r>
          </a:p>
        </p:txBody>
      </p:sp>
      <p:sp>
        <p:nvSpPr>
          <p:cNvPr id="10" name="S_method_box">
            <a:extLst>
              <a:ext uri="{FF2B5EF4-FFF2-40B4-BE49-F238E27FC236}">
                <a16:creationId xmlns:a16="http://schemas.microsoft.com/office/drawing/2014/main" id="{B979447C-D4E1-F1B7-3310-EA6BB8BF5220}"/>
              </a:ext>
            </a:extLst>
          </p:cNvPr>
          <p:cNvSpPr/>
          <p:nvPr/>
        </p:nvSpPr>
        <p:spPr>
          <a:xfrm>
            <a:off x="6096000" y="2187572"/>
            <a:ext cx="5719160" cy="424382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b="1">
                <a:solidFill>
                  <a:schemeClr val="tx1"/>
                </a:solidFill>
              </a:rPr>
              <a:t>METHODOLOGY / EXAMPLE SOURCES</a:t>
            </a:r>
          </a:p>
          <a:p>
            <a:pPr>
              <a:spcAft>
                <a:spcPts val="600"/>
              </a:spcAft>
              <a:buNone/>
            </a:pPr>
            <a:r>
              <a:rPr lang="en-US" sz="1300" b="1">
                <a:solidFill>
                  <a:schemeClr val="tx1"/>
                </a:solidFill>
              </a:rPr>
              <a:t>Primary Research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Expert interviews: </a:t>
            </a:r>
            <a:r>
              <a:rPr lang="en-US" sz="1300">
                <a:solidFill>
                  <a:schemeClr val="tx1"/>
                </a:solidFill>
              </a:rPr>
              <a:t>design engineers, procurement leads, capacitor product managers, polymer chemists, etc.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Supplier conversations</a:t>
            </a:r>
            <a:r>
              <a:rPr lang="en-US" sz="1300">
                <a:solidFill>
                  <a:schemeClr val="tx1"/>
                </a:solidFill>
              </a:rPr>
              <a:t> with technical and commercial stakeholders where accessible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Conference &amp; trade intelligence: </a:t>
            </a:r>
            <a:r>
              <a:rPr lang="en-US" sz="1300">
                <a:solidFill>
                  <a:schemeClr val="tx1"/>
                </a:solidFill>
              </a:rPr>
              <a:t>ICCPEA, ECTC, other passive components forums or relevant end use market conferences</a:t>
            </a:r>
          </a:p>
          <a:p>
            <a:pPr>
              <a:spcAft>
                <a:spcPts val="600"/>
              </a:spcAft>
              <a:buNone/>
            </a:pPr>
            <a:r>
              <a:rPr lang="en-US" sz="1300" b="1">
                <a:solidFill>
                  <a:schemeClr val="tx1"/>
                </a:solidFill>
              </a:rPr>
              <a:t>Secondary Research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Patents: </a:t>
            </a:r>
            <a:r>
              <a:rPr lang="en-US" sz="1300">
                <a:solidFill>
                  <a:schemeClr val="tx1"/>
                </a:solidFill>
              </a:rPr>
              <a:t>USPTO, EPO, J-</a:t>
            </a:r>
            <a:r>
              <a:rPr lang="en-US" sz="1300" err="1">
                <a:solidFill>
                  <a:schemeClr val="tx1"/>
                </a:solidFill>
              </a:rPr>
              <a:t>PlatPat</a:t>
            </a:r>
            <a:r>
              <a:rPr lang="en-US" sz="1300">
                <a:solidFill>
                  <a:schemeClr val="tx1"/>
                </a:solidFill>
              </a:rPr>
              <a:t> (R&amp;D trajectory, technology differentiation)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Company disclosures: </a:t>
            </a:r>
            <a:r>
              <a:rPr lang="en-US" sz="1300">
                <a:solidFill>
                  <a:schemeClr val="tx1"/>
                </a:solidFill>
              </a:rPr>
              <a:t>annual reports, investor decks, earnings transcripts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Technical literature: </a:t>
            </a:r>
            <a:r>
              <a:rPr lang="en-US" sz="1300">
                <a:solidFill>
                  <a:schemeClr val="tx1"/>
                </a:solidFill>
              </a:rPr>
              <a:t>IEEE Xplore,</a:t>
            </a:r>
            <a:r>
              <a:rPr lang="en-US" sz="1300">
                <a:solidFill>
                  <a:srgbClr val="FF0000"/>
                </a:solidFill>
              </a:rPr>
              <a:t> </a:t>
            </a:r>
            <a:r>
              <a:rPr lang="en-US" sz="1300">
                <a:solidFill>
                  <a:schemeClr val="tx1"/>
                </a:solidFill>
              </a:rPr>
              <a:t>Journal of Material Chemistry C, Advanced Functional Materials, Polymer Engineering &amp; Science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Market data: </a:t>
            </a:r>
            <a:r>
              <a:rPr lang="en-US" sz="1300">
                <a:solidFill>
                  <a:schemeClr val="tx1"/>
                </a:solidFill>
              </a:rPr>
              <a:t>IHS Markit, IDC, Paumanok Group,</a:t>
            </a:r>
            <a:r>
              <a:rPr lang="en-US" sz="1300">
                <a:solidFill>
                  <a:srgbClr val="FF0000"/>
                </a:solidFill>
              </a:rPr>
              <a:t> </a:t>
            </a:r>
            <a:r>
              <a:rPr lang="en-US" sz="1300">
                <a:solidFill>
                  <a:schemeClr val="tx1"/>
                </a:solidFill>
              </a:rPr>
              <a:t>distributor pricing for ASP triangulation</a:t>
            </a:r>
          </a:p>
          <a:p>
            <a:pPr marL="114300" indent="-1143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tx1"/>
                </a:solidFill>
              </a:rPr>
              <a:t>Regulatory &amp; standards: </a:t>
            </a:r>
            <a:r>
              <a:rPr lang="en-US" sz="1300">
                <a:solidFill>
                  <a:schemeClr val="tx1"/>
                </a:solidFill>
              </a:rPr>
              <a:t>IPC, JEDEC,</a:t>
            </a:r>
            <a:r>
              <a:rPr lang="en-US" sz="1300">
                <a:solidFill>
                  <a:srgbClr val="FF0000"/>
                </a:solidFill>
              </a:rPr>
              <a:t> </a:t>
            </a:r>
            <a:r>
              <a:rPr lang="en-US" sz="1300">
                <a:solidFill>
                  <a:schemeClr val="tx1"/>
                </a:solidFill>
              </a:rPr>
              <a:t>AEC-Q200; RoHS / REACH compliance</a:t>
            </a:r>
          </a:p>
        </p:txBody>
      </p:sp>
      <p:sp>
        <p:nvSpPr>
          <p:cNvPr id="5" name="S_stage1">
            <a:extLst>
              <a:ext uri="{FF2B5EF4-FFF2-40B4-BE49-F238E27FC236}">
                <a16:creationId xmlns:a16="http://schemas.microsoft.com/office/drawing/2014/main" id="{104E6BC1-4E48-7F9D-E254-9F535321A9EC}"/>
              </a:ext>
            </a:extLst>
          </p:cNvPr>
          <p:cNvSpPr/>
          <p:nvPr/>
        </p:nvSpPr>
        <p:spPr>
          <a:xfrm>
            <a:off x="381000" y="1191127"/>
            <a:ext cx="3956858" cy="602339"/>
          </a:xfrm>
          <a:prstGeom prst="homePlate">
            <a:avLst>
              <a:gd name="adj" fmla="val 2749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600" b="1">
                <a:solidFill>
                  <a:prstClr val="white"/>
                </a:solidFill>
                <a:latin typeface="Aptos" panose="02110004020202020204"/>
              </a:rPr>
              <a:t>Uncover the Market &amp; Technology Landscape</a:t>
            </a:r>
          </a:p>
        </p:txBody>
      </p:sp>
      <p:sp>
        <p:nvSpPr>
          <p:cNvPr id="6" name="S_stage3">
            <a:extLst>
              <a:ext uri="{FF2B5EF4-FFF2-40B4-BE49-F238E27FC236}">
                <a16:creationId xmlns:a16="http://schemas.microsoft.com/office/drawing/2014/main" id="{0BF21AD8-DA23-9CED-5646-5DA4A8B18416}"/>
              </a:ext>
            </a:extLst>
          </p:cNvPr>
          <p:cNvSpPr/>
          <p:nvPr/>
        </p:nvSpPr>
        <p:spPr>
          <a:xfrm>
            <a:off x="8132156" y="1191127"/>
            <a:ext cx="3683002" cy="602339"/>
          </a:xfrm>
          <a:prstGeom prst="chevron">
            <a:avLst>
              <a:gd name="adj" fmla="val 2761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600" b="1">
                <a:solidFill>
                  <a:prstClr val="white"/>
                </a:solidFill>
                <a:latin typeface="Aptos" panose="02110004020202020204"/>
              </a:rPr>
              <a:t>Build the Growth Strategy</a:t>
            </a:r>
          </a:p>
        </p:txBody>
      </p:sp>
      <p:sp>
        <p:nvSpPr>
          <p:cNvPr id="7" name="S_stage2">
            <a:extLst>
              <a:ext uri="{FF2B5EF4-FFF2-40B4-BE49-F238E27FC236}">
                <a16:creationId xmlns:a16="http://schemas.microsoft.com/office/drawing/2014/main" id="{41C3ECB3-C40A-BF8A-A3EA-3AF685E1FE2B}"/>
              </a:ext>
            </a:extLst>
          </p:cNvPr>
          <p:cNvSpPr/>
          <p:nvPr/>
        </p:nvSpPr>
        <p:spPr>
          <a:xfrm>
            <a:off x="4254687" y="1189247"/>
            <a:ext cx="3956858" cy="602339"/>
          </a:xfrm>
          <a:prstGeom prst="chevron">
            <a:avLst>
              <a:gd name="adj" fmla="val 2761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en-US" sz="1600" b="1">
                <a:solidFill>
                  <a:prstClr val="white"/>
                </a:solidFill>
                <a:latin typeface="Aptos" panose="02110004020202020204"/>
              </a:rPr>
              <a:t>Assess the Value Chain</a:t>
            </a:r>
          </a:p>
        </p:txBody>
      </p:sp>
    </p:spTree>
    <p:extLst>
      <p:ext uri="{BB962C8B-B14F-4D97-AF65-F5344CB8AC3E}">
        <p14:creationId xmlns:p14="http://schemas.microsoft.com/office/powerpoint/2010/main" val="85078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5E9C705-439B-3817-A33D-6AF775F631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3" progId="TCLayout.ActiveDocument.1">
                  <p:embed/>
                </p:oleObj>
              </mc:Choice>
              <mc:Fallback>
                <p:oleObj name="think-cell Slide" r:id="rId3" imgW="423" imgH="4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E9C705-439B-3817-A33D-6AF775F631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_title">
            <a:extLst>
              <a:ext uri="{FF2B5EF4-FFF2-40B4-BE49-F238E27FC236}">
                <a16:creationId xmlns:a16="http://schemas.microsoft.com/office/drawing/2014/main" id="{348A198F-35AE-309F-3A52-D0828EFB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We will field a team experienced in composites that will partner closely with &lt;Client&gt; throughout the effort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8B18C-3DB6-C4BA-16CB-46813D71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S_subhead">
            <a:extLst>
              <a:ext uri="{FF2B5EF4-FFF2-40B4-BE49-F238E27FC236}">
                <a16:creationId xmlns:a16="http://schemas.microsoft.com/office/drawing/2014/main" id="{6C2434A0-86C7-DD25-C199-C296C03EDD0B}"/>
              </a:ext>
            </a:extLst>
          </p:cNvPr>
          <p:cNvSpPr txBox="1">
            <a:spLocks/>
          </p:cNvSpPr>
          <p:nvPr/>
        </p:nvSpPr>
        <p:spPr>
          <a:xfrm>
            <a:off x="380998" y="1110041"/>
            <a:ext cx="5481920" cy="303006"/>
          </a:xfrm>
          <a:prstGeom prst="rect">
            <a:avLst/>
          </a:prstGeom>
        </p:spPr>
        <p:txBody>
          <a:bodyPr lIns="0" tIns="0" rIns="0" bIns="0"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cap="all">
                <a:solidFill>
                  <a:schemeClr val="accent2"/>
                </a:solidFill>
              </a:rPr>
              <a:t>Newry Team</a:t>
            </a: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EBDF7DE5-D417-F3C1-EC53-A5BE9380A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330" y="3262004"/>
            <a:ext cx="1473488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Newry Vice President David Wylie">
            <a:extLst>
              <a:ext uri="{FF2B5EF4-FFF2-40B4-BE49-F238E27FC236}">
                <a16:creationId xmlns:a16="http://schemas.microsoft.com/office/drawing/2014/main" id="{8F50E3D9-FD4C-7D41-A199-8F1198148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69" y="1419291"/>
            <a:ext cx="146304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B03E50F7-5F58-C77F-33DD-C90ECC727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330" y="1413047"/>
            <a:ext cx="1473488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person in a blue shirt&#10;&#10;AI-generated content may be incorrect.">
            <a:extLst>
              <a:ext uri="{FF2B5EF4-FFF2-40B4-BE49-F238E27FC236}">
                <a16:creationId xmlns:a16="http://schemas.microsoft.com/office/drawing/2014/main" id="{321DDA13-7FA5-5883-5D50-266832F3C27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" t="6862" r="-156" b="26472"/>
          <a:stretch>
            <a:fillRect/>
          </a:stretch>
        </p:blipFill>
        <p:spPr>
          <a:xfrm>
            <a:off x="377669" y="3262004"/>
            <a:ext cx="1463040" cy="1463040"/>
          </a:xfrm>
          <a:prstGeom prst="flowChartConnector">
            <a:avLst/>
          </a:prstGeom>
        </p:spPr>
      </p:pic>
      <p:sp>
        <p:nvSpPr>
          <p:cNvPr id="24" name="S_bio1">
            <a:extLst>
              <a:ext uri="{FF2B5EF4-FFF2-40B4-BE49-F238E27FC236}">
                <a16:creationId xmlns:a16="http://schemas.microsoft.com/office/drawing/2014/main" id="{170EFA2F-5FBD-08CF-AACB-E50792181BC0}"/>
              </a:ext>
            </a:extLst>
          </p:cNvPr>
          <p:cNvSpPr txBox="1"/>
          <p:nvPr/>
        </p:nvSpPr>
        <p:spPr>
          <a:xfrm>
            <a:off x="1907384" y="1413047"/>
            <a:ext cx="4093366" cy="169277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David Wylie</a:t>
            </a:r>
          </a:p>
          <a:p>
            <a:pPr>
              <a:spcBef>
                <a:spcPts val="300"/>
              </a:spcBef>
            </a:pPr>
            <a:r>
              <a:rPr lang="en-US" sz="1500" i="1"/>
              <a:t>Vice President, Project Director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13 yrs at Newry driving growth for B2B material cos. 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Strong expertise in composites and thermoset resins, their markets, and applications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Leads Growth Practice; led multiple growth execution efforts for PE-backed </a:t>
            </a:r>
            <a:r>
              <a:rPr lang="en-US" sz="1400" err="1"/>
              <a:t>portcos</a:t>
            </a:r>
            <a:endParaRPr lang="en-US" sz="1400"/>
          </a:p>
        </p:txBody>
      </p:sp>
      <p:sp>
        <p:nvSpPr>
          <p:cNvPr id="27" name="S_bio2">
            <a:extLst>
              <a:ext uri="{FF2B5EF4-FFF2-40B4-BE49-F238E27FC236}">
                <a16:creationId xmlns:a16="http://schemas.microsoft.com/office/drawing/2014/main" id="{0956DC2E-8496-5FAC-D7EA-536DFEA98B34}"/>
              </a:ext>
            </a:extLst>
          </p:cNvPr>
          <p:cNvSpPr txBox="1"/>
          <p:nvPr/>
        </p:nvSpPr>
        <p:spPr>
          <a:xfrm>
            <a:off x="7703398" y="1413047"/>
            <a:ext cx="4093366" cy="165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Kasey Correnti</a:t>
            </a:r>
          </a:p>
          <a:p>
            <a:pPr>
              <a:spcBef>
                <a:spcPts val="300"/>
              </a:spcBef>
            </a:pPr>
            <a:r>
              <a:rPr lang="en-US" sz="1500" i="1"/>
              <a:t>Vice President, Project Advisor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10 yrs at Newry driving growth &amp; innovation for B2B specialty material companies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Broad experience in many end markets including data centers, energy, building &amp; construction, life sciences, medical, etc.</a:t>
            </a:r>
          </a:p>
        </p:txBody>
      </p:sp>
      <p:sp>
        <p:nvSpPr>
          <p:cNvPr id="28" name="S_bio3">
            <a:extLst>
              <a:ext uri="{FF2B5EF4-FFF2-40B4-BE49-F238E27FC236}">
                <a16:creationId xmlns:a16="http://schemas.microsoft.com/office/drawing/2014/main" id="{5EC6747C-EA15-9FBB-7782-493D0BAAFA0D}"/>
              </a:ext>
            </a:extLst>
          </p:cNvPr>
          <p:cNvSpPr txBox="1"/>
          <p:nvPr/>
        </p:nvSpPr>
        <p:spPr>
          <a:xfrm>
            <a:off x="7703398" y="3262004"/>
            <a:ext cx="4093366" cy="14388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Krishna Nookala</a:t>
            </a:r>
          </a:p>
          <a:p>
            <a:pPr>
              <a:spcBef>
                <a:spcPts val="300"/>
              </a:spcBef>
            </a:pPr>
            <a:r>
              <a:rPr lang="en-US" sz="1500" i="1"/>
              <a:t>Vice President, Business Development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20 yrs technical sales experience 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Will support opportunity evaluation, lead generation, customer engagement, and insight development and delivery</a:t>
            </a:r>
          </a:p>
        </p:txBody>
      </p:sp>
      <p:sp>
        <p:nvSpPr>
          <p:cNvPr id="29" name="S_bio4">
            <a:extLst>
              <a:ext uri="{FF2B5EF4-FFF2-40B4-BE49-F238E27FC236}">
                <a16:creationId xmlns:a16="http://schemas.microsoft.com/office/drawing/2014/main" id="{02A56DA6-EFFE-45CC-402D-1DD62578B99E}"/>
              </a:ext>
            </a:extLst>
          </p:cNvPr>
          <p:cNvSpPr txBox="1"/>
          <p:nvPr/>
        </p:nvSpPr>
        <p:spPr>
          <a:xfrm>
            <a:off x="1907384" y="3262004"/>
            <a:ext cx="4093366" cy="19082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Dwight Baker</a:t>
            </a:r>
          </a:p>
          <a:p>
            <a:pPr>
              <a:spcBef>
                <a:spcPts val="300"/>
              </a:spcBef>
            </a:pPr>
            <a:r>
              <a:rPr lang="en-US" sz="1500" i="1"/>
              <a:t>Senior Project Advisor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33-year composites industry veteran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Strong track record of diversifying composites companies into emerging end-use markets and differentiated product/service offerings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Former VP at Composites One; also held leadership roles at Owens Corning &amp; Ashland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65C8DB-586C-CE1C-53CD-71B7CA06879B}"/>
              </a:ext>
            </a:extLst>
          </p:cNvPr>
          <p:cNvCxnSpPr>
            <a:cxnSpLocks/>
          </p:cNvCxnSpPr>
          <p:nvPr/>
        </p:nvCxnSpPr>
        <p:spPr>
          <a:xfrm>
            <a:off x="425112" y="3159019"/>
            <a:ext cx="114190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7CA6DDB-6D12-F4F0-CD00-716920934F20}"/>
              </a:ext>
            </a:extLst>
          </p:cNvPr>
          <p:cNvCxnSpPr>
            <a:cxnSpLocks/>
          </p:cNvCxnSpPr>
          <p:nvPr/>
        </p:nvCxnSpPr>
        <p:spPr>
          <a:xfrm>
            <a:off x="377669" y="5253127"/>
            <a:ext cx="11419095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14" descr="Professional headshot of Newry consultant Anna Jaffe">
            <a:extLst>
              <a:ext uri="{FF2B5EF4-FFF2-40B4-BE49-F238E27FC236}">
                <a16:creationId xmlns:a16="http://schemas.microsoft.com/office/drawing/2014/main" id="{C7087F6A-A50A-9B5A-C043-19927CE779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9" t="3630" r="11478" b="29506"/>
          <a:stretch/>
        </p:blipFill>
        <p:spPr bwMode="auto">
          <a:xfrm>
            <a:off x="377669" y="5309922"/>
            <a:ext cx="1463040" cy="146304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Professional headshot of Newry consultant Isabel Anness">
            <a:extLst>
              <a:ext uri="{FF2B5EF4-FFF2-40B4-BE49-F238E27FC236}">
                <a16:creationId xmlns:a16="http://schemas.microsoft.com/office/drawing/2014/main" id="{D1F18ED5-70FD-1EF8-5872-DEF4AE3F2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57" t="6911" r="13364" b="22460"/>
          <a:stretch/>
        </p:blipFill>
        <p:spPr bwMode="auto">
          <a:xfrm>
            <a:off x="6120554" y="5309922"/>
            <a:ext cx="1463040" cy="146304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_bio5">
            <a:extLst>
              <a:ext uri="{FF2B5EF4-FFF2-40B4-BE49-F238E27FC236}">
                <a16:creationId xmlns:a16="http://schemas.microsoft.com/office/drawing/2014/main" id="{97BE9BE6-DE82-2918-6FC9-0A9BAA790BF1}"/>
              </a:ext>
            </a:extLst>
          </p:cNvPr>
          <p:cNvSpPr txBox="1"/>
          <p:nvPr/>
        </p:nvSpPr>
        <p:spPr>
          <a:xfrm>
            <a:off x="1907384" y="5309922"/>
            <a:ext cx="4093366" cy="12234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Anna Jaffe</a:t>
            </a:r>
          </a:p>
          <a:p>
            <a:pPr>
              <a:spcBef>
                <a:spcPts val="300"/>
              </a:spcBef>
            </a:pPr>
            <a:r>
              <a:rPr lang="en-US" sz="1500" i="1"/>
              <a:t>Project Manager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Significant experience in composites &amp; polymers for multiple applications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Former </a:t>
            </a:r>
            <a:r>
              <a:rPr lang="en-US" sz="1400" err="1"/>
              <a:t>Avient</a:t>
            </a:r>
            <a:endParaRPr lang="en-US" sz="1400"/>
          </a:p>
        </p:txBody>
      </p:sp>
      <p:sp>
        <p:nvSpPr>
          <p:cNvPr id="11" name="S_bio6">
            <a:extLst>
              <a:ext uri="{FF2B5EF4-FFF2-40B4-BE49-F238E27FC236}">
                <a16:creationId xmlns:a16="http://schemas.microsoft.com/office/drawing/2014/main" id="{ACC96DD9-D6CD-196F-1559-8440BFC2D706}"/>
              </a:ext>
            </a:extLst>
          </p:cNvPr>
          <p:cNvSpPr txBox="1"/>
          <p:nvPr/>
        </p:nvSpPr>
        <p:spPr>
          <a:xfrm>
            <a:off x="7703398" y="5309922"/>
            <a:ext cx="4093366" cy="10079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500" b="1"/>
              <a:t>Isabel Anness</a:t>
            </a:r>
          </a:p>
          <a:p>
            <a:pPr>
              <a:spcBef>
                <a:spcPts val="300"/>
              </a:spcBef>
            </a:pPr>
            <a:r>
              <a:rPr lang="en-US" sz="1500" i="1"/>
              <a:t>Consultant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Strong experience in B2B marketing and analysis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/>
              <a:t>Former Accenture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3A2266-F393-9BF3-D741-A93D555D4C44}"/>
              </a:ext>
            </a:extLst>
          </p:cNvPr>
          <p:cNvSpPr txBox="1"/>
          <p:nvPr/>
        </p:nvSpPr>
        <p:spPr>
          <a:xfrm>
            <a:off x="7092925" y="1085975"/>
            <a:ext cx="4713181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sz="1100"/>
              <a:t>Note: Project Manager &amp; Consultant subject to change based on launch date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9918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9F20-215B-B1C5-93F9-A8A4D0F9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1DDD7E8-BDB2-3968-D2F6-39BFFE294F2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DDD7E8-BDB2-3968-D2F6-39BFFE294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117FD7-BFAD-6DC3-A517-574EEED2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3" name="S_contact2">
            <a:extLst>
              <a:ext uri="{FF2B5EF4-FFF2-40B4-BE49-F238E27FC236}">
                <a16:creationId xmlns:a16="http://schemas.microsoft.com/office/drawing/2014/main" id="{76C940BD-9B4F-8B18-DDE8-32D5A24F94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998" y="3139958"/>
            <a:ext cx="3657600" cy="678245"/>
          </a:xfrm>
        </p:spPr>
        <p:txBody>
          <a:bodyPr anchor="ctr">
            <a:normAutofit fontScale="77500" lnSpcReduction="20000"/>
          </a:bodyPr>
          <a:lstStyle/>
          <a:p>
            <a:pPr marL="914400" indent="0">
              <a:spcBef>
                <a:spcPts val="300"/>
              </a:spcBef>
              <a:buNone/>
            </a:pPr>
            <a:r>
              <a:rPr lang="en-US" sz="1600" b="1" noProof="0"/>
              <a:t>David Wylie</a:t>
            </a:r>
          </a:p>
          <a:p>
            <a:pPr marL="914400" indent="0">
              <a:spcBef>
                <a:spcPts val="300"/>
              </a:spcBef>
              <a:buNone/>
            </a:pPr>
            <a:r>
              <a:rPr lang="en-US" sz="1600" noProof="0"/>
              <a:t>Vice President</a:t>
            </a:r>
          </a:p>
          <a:p>
            <a:pPr marL="914400" indent="0">
              <a:spcBef>
                <a:spcPts val="300"/>
              </a:spcBef>
              <a:buNone/>
            </a:pPr>
            <a:r>
              <a:rPr lang="en-US" sz="1600" noProof="0"/>
              <a:t>dwylie@newrycorp.com</a:t>
            </a:r>
          </a:p>
        </p:txBody>
      </p:sp>
      <p:pic>
        <p:nvPicPr>
          <p:cNvPr id="4" name="Picture 3" descr="A red and grey logo&#10;&#10;Description automatically generated">
            <a:extLst>
              <a:ext uri="{FF2B5EF4-FFF2-40B4-BE49-F238E27FC236}">
                <a16:creationId xmlns:a16="http://schemas.microsoft.com/office/drawing/2014/main" id="{46BE80CA-D6AC-7AD0-FF2F-C3456AA55F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5456"/>
            <a:ext cx="2620781" cy="883013"/>
          </a:xfrm>
          <a:prstGeom prst="rect">
            <a:avLst/>
          </a:prstGeom>
        </p:spPr>
      </p:pic>
      <p:pic>
        <p:nvPicPr>
          <p:cNvPr id="1026" name="Picture 2" descr="Welcome, Krishna Nookala! - Newry Corp | Innovation ...">
            <a:extLst>
              <a:ext uri="{FF2B5EF4-FFF2-40B4-BE49-F238E27FC236}">
                <a16:creationId xmlns:a16="http://schemas.microsoft.com/office/drawing/2014/main" id="{B2FE296D-1682-53A2-32A3-EBCBD8CFBB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2" t="343" r="10157" b="20890"/>
          <a:stretch/>
        </p:blipFill>
        <p:spPr bwMode="auto">
          <a:xfrm>
            <a:off x="318519" y="4200554"/>
            <a:ext cx="914400" cy="9144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_confidential">
            <a:extLst>
              <a:ext uri="{FF2B5EF4-FFF2-40B4-BE49-F238E27FC236}">
                <a16:creationId xmlns:a16="http://schemas.microsoft.com/office/drawing/2014/main" id="{B5082D74-017B-F1ED-0BF9-A50E259B8B2B}"/>
              </a:ext>
            </a:extLst>
          </p:cNvPr>
          <p:cNvSpPr txBox="1"/>
          <p:nvPr/>
        </p:nvSpPr>
        <p:spPr>
          <a:xfrm>
            <a:off x="397948" y="5467810"/>
            <a:ext cx="5482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noProof="0">
                <a:solidFill>
                  <a:prstClr val="black">
                    <a:lumMod val="50000"/>
                    <a:lumOff val="50000"/>
                  </a:prstClr>
                </a:solidFill>
                <a:latin typeface="Aptos" panose="02110004020202020204"/>
              </a:rPr>
              <a:t>&lt;Client&gt;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CONFIDENTIAL INFORMATION: This document may not be disclosed to anyone other than employees of </a:t>
            </a:r>
            <a:r>
              <a:rPr lang="en-US" sz="1200">
                <a:solidFill>
                  <a:prstClr val="black">
                    <a:lumMod val="50000"/>
                    <a:lumOff val="50000"/>
                  </a:prstClr>
                </a:solidFill>
                <a:latin typeface="Aptos" panose="02110004020202020204"/>
              </a:rPr>
              <a:t>&lt;Client&gt; Performance Materials, &lt;Sponsor&gt;,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 Newry. If this document is found by any other party, please do not read or copy any information therein, and please call (440) 808-3839 to arrange for its return.</a:t>
            </a:r>
          </a:p>
        </p:txBody>
      </p:sp>
      <p:pic>
        <p:nvPicPr>
          <p:cNvPr id="1032" name="Picture 8" descr="Our Team - Newry Corp | Innovation Consulting &amp; Product Strategy Consulting  Firm">
            <a:extLst>
              <a:ext uri="{FF2B5EF4-FFF2-40B4-BE49-F238E27FC236}">
                <a16:creationId xmlns:a16="http://schemas.microsoft.com/office/drawing/2014/main" id="{501488BF-FBEC-07BA-BC01-9DACFDE40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2" t="2055" r="12842" b="24315"/>
          <a:stretch/>
        </p:blipFill>
        <p:spPr bwMode="auto">
          <a:xfrm>
            <a:off x="322474" y="3021880"/>
            <a:ext cx="914400" cy="9144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_contact3">
            <a:extLst>
              <a:ext uri="{FF2B5EF4-FFF2-40B4-BE49-F238E27FC236}">
                <a16:creationId xmlns:a16="http://schemas.microsoft.com/office/drawing/2014/main" id="{9FD3FC2C-D746-10E8-6F13-2C2CC2F483AC}"/>
              </a:ext>
            </a:extLst>
          </p:cNvPr>
          <p:cNvSpPr txBox="1">
            <a:spLocks/>
          </p:cNvSpPr>
          <p:nvPr/>
        </p:nvSpPr>
        <p:spPr>
          <a:xfrm>
            <a:off x="316999" y="4279372"/>
            <a:ext cx="3657600" cy="756765"/>
          </a:xfrm>
          <a:prstGeom prst="rect">
            <a:avLst/>
          </a:prstGeom>
        </p:spPr>
        <p:txBody>
          <a:bodyPr anchor="ctr"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b="1" noProof="0"/>
              <a:t>Krishna Nookala</a:t>
            </a:r>
          </a:p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noProof="0"/>
              <a:t>Vice President, Sales</a:t>
            </a:r>
          </a:p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noProof="0"/>
              <a:t>knookala@newrycorp.com</a:t>
            </a:r>
          </a:p>
        </p:txBody>
      </p:sp>
      <p:sp>
        <p:nvSpPr>
          <p:cNvPr id="12" name="S_contact1">
            <a:extLst>
              <a:ext uri="{FF2B5EF4-FFF2-40B4-BE49-F238E27FC236}">
                <a16:creationId xmlns:a16="http://schemas.microsoft.com/office/drawing/2014/main" id="{8B24F4EA-E7DC-7F4C-CBC6-0A09550902F9}"/>
              </a:ext>
            </a:extLst>
          </p:cNvPr>
          <p:cNvSpPr txBox="1">
            <a:spLocks/>
          </p:cNvSpPr>
          <p:nvPr/>
        </p:nvSpPr>
        <p:spPr>
          <a:xfrm>
            <a:off x="316998" y="1922024"/>
            <a:ext cx="3657600" cy="756765"/>
          </a:xfrm>
          <a:prstGeom prst="rect">
            <a:avLst/>
          </a:prstGeom>
        </p:spPr>
        <p:txBody>
          <a:bodyPr anchor="ctr"/>
          <a:lstStyle>
            <a:lvl1pPr marL="2333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7763" indent="-233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b="1" noProof="0"/>
              <a:t>Kasey Correnti</a:t>
            </a:r>
          </a:p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noProof="0"/>
              <a:t>Vice President</a:t>
            </a:r>
          </a:p>
          <a:p>
            <a:pPr marL="914400" indent="0">
              <a:spcBef>
                <a:spcPts val="300"/>
              </a:spcBef>
              <a:buFont typeface="Arial" panose="020B0604020202020204" pitchFamily="34" charset="0"/>
              <a:buNone/>
            </a:pPr>
            <a:r>
              <a:rPr lang="en-US" sz="1600" noProof="0"/>
              <a:t>komalley@newrycorp.com</a:t>
            </a:r>
          </a:p>
        </p:txBody>
      </p:sp>
      <p:pic>
        <p:nvPicPr>
          <p:cNvPr id="2052" name="Picture 4" descr="Our Team - Innovation Consulting &amp; Business Growth Consultants - Newry Corp">
            <a:extLst>
              <a:ext uri="{FF2B5EF4-FFF2-40B4-BE49-F238E27FC236}">
                <a16:creationId xmlns:a16="http://schemas.microsoft.com/office/drawing/2014/main" id="{EB562F8B-9692-D98E-25F2-54C43E594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47" t="1095" r="11342" b="26355"/>
          <a:stretch>
            <a:fillRect/>
          </a:stretch>
        </p:blipFill>
        <p:spPr bwMode="auto">
          <a:xfrm>
            <a:off x="316998" y="1843206"/>
            <a:ext cx="914400" cy="9144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5474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itch Deck and Proposal AI Templates">
  <a:themeElements>
    <a:clrScheme name="Blue-Grey Gradient with Accents 3">
      <a:dk1>
        <a:sysClr val="windowText" lastClr="000000"/>
      </a:dk1>
      <a:lt1>
        <a:sysClr val="window" lastClr="FFFFFF"/>
      </a:lt1>
      <a:dk2>
        <a:srgbClr val="920D29"/>
      </a:dk2>
      <a:lt2>
        <a:srgbClr val="FDBC0D"/>
      </a:lt2>
      <a:accent1>
        <a:srgbClr val="0F263F"/>
      </a:accent1>
      <a:accent2>
        <a:srgbClr val="1E4C7F"/>
      </a:accent2>
      <a:accent3>
        <a:srgbClr val="3079CA"/>
      </a:accent3>
      <a:accent4>
        <a:srgbClr val="89B4E3"/>
      </a:accent4>
      <a:accent5>
        <a:srgbClr val="BBD4EF"/>
      </a:accent5>
      <a:accent6>
        <a:srgbClr val="DBE7F5"/>
      </a:accent6>
      <a:hlink>
        <a:srgbClr val="3079CA"/>
      </a:hlink>
      <a:folHlink>
        <a:srgbClr val="85787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Blue-Grey Gradient with Accents 3">
      <a:dk1>
        <a:sysClr val="windowText" lastClr="000000"/>
      </a:dk1>
      <a:lt1>
        <a:sysClr val="window" lastClr="FFFFFF"/>
      </a:lt1>
      <a:dk2>
        <a:srgbClr val="920D29"/>
      </a:dk2>
      <a:lt2>
        <a:srgbClr val="FDBC0D"/>
      </a:lt2>
      <a:accent1>
        <a:srgbClr val="0F263F"/>
      </a:accent1>
      <a:accent2>
        <a:srgbClr val="1E4C7F"/>
      </a:accent2>
      <a:accent3>
        <a:srgbClr val="3079CA"/>
      </a:accent3>
      <a:accent4>
        <a:srgbClr val="89B4E3"/>
      </a:accent4>
      <a:accent5>
        <a:srgbClr val="BBD4EF"/>
      </a:accent5>
      <a:accent6>
        <a:srgbClr val="DBE7F5"/>
      </a:accent6>
      <a:hlink>
        <a:srgbClr val="3079CA"/>
      </a:hlink>
      <a:folHlink>
        <a:srgbClr val="85787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Pitch Deck and Proposal AI Templates</Template>
  <TotalTime>91</TotalTime>
  <Words>1995</Words>
  <Application>Microsoft Office PowerPoint</Application>
  <PresentationFormat>Custom</PresentationFormat>
  <Paragraphs>173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Courier New</vt:lpstr>
      <vt:lpstr>Wingdings</vt:lpstr>
      <vt:lpstr>Pitch Deck and Proposal AI Templates</vt:lpstr>
      <vt:lpstr>1_Office Theme</vt:lpstr>
      <vt:lpstr>think-cell Slide</vt:lpstr>
      <vt:lpstr>Driving Growth &amp; Enterprise Value for &lt;Client&gt; in North America and Europe</vt:lpstr>
      <vt:lpstr>PowerPoint Presentation</vt:lpstr>
      <vt:lpstr>Newry has broad experience across the semiconductor / electronics value chain, in a variety of topics relevant to &lt;Client&gt;’s business</vt:lpstr>
      <vt:lpstr>We believe there could be several vectors to drive growth for &lt;Client&gt; </vt:lpstr>
      <vt:lpstr>We will work closely with &lt;Client&gt; to build a growth strategy and then execute to drive new revenue and enterprise value</vt:lpstr>
      <vt:lpstr>We will identify adjacent applications where &lt;Client&gt; has a right to win to drive profitable growth</vt:lpstr>
      <vt:lpstr>Newry will map the full application landscape, assess competing technologies, and build a bottom-up market model through 2034</vt:lpstr>
      <vt:lpstr>We will field a team experienced in composites that will partner closely with &lt;Client&gt; throughout the effort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Sylvan Shank</dc:creator>
  <cp:lastModifiedBy>Sylvan Shank</cp:lastModifiedBy>
  <cp:revision>1</cp:revision>
  <dcterms:created xsi:type="dcterms:W3CDTF">2026-06-22T14:50:37Z</dcterms:created>
  <dcterms:modified xsi:type="dcterms:W3CDTF">2026-06-22T16:22:10Z</dcterms:modified>
</cp:coreProperties>
</file>