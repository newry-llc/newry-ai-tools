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tags/tag46.xml" ContentType="application/vnd.openxmlformats-officedocument.presentationml.tags+xml"/>
  <Override PartName="/ppt/notesSlides/notesSlide4.xml" ContentType="application/vnd.openxmlformats-officedocument.presentationml.notesSlide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8364" r:id="rId3"/>
    <p:sldId id="319" r:id="rId4"/>
    <p:sldId id="934" r:id="rId5"/>
    <p:sldId id="83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98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110830254715146E-2"/>
          <c:y val="7.7908217716115266E-2"/>
          <c:w val="0.97977833949056969"/>
          <c:h val="0.8441835645677694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229811454998221E-3"/>
                </c:manualLayout>
              </c:layout>
              <c:numFmt formatCode="&quot;$&quot;#,##0.0;&quot;-&quot;&quot;$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3B6-419E-BB22-1CE4D4A80123}"/>
                </c:ext>
              </c:extLst>
            </c:dLbl>
            <c:dLbl>
              <c:idx val="1"/>
              <c:layout>
                <c:manualLayout>
                  <c:x val="0"/>
                  <c:y val="-1.4229811454998221E-3"/>
                </c:manualLayout>
              </c:layout>
              <c:numFmt formatCode="&quot;$&quot;#,##0.0;&quot;-&quot;&quot;$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3B6-419E-BB22-1CE4D4A80123}"/>
                </c:ext>
              </c:extLst>
            </c:dLbl>
            <c:dLbl>
              <c:idx val="2"/>
              <c:layout>
                <c:manualLayout>
                  <c:x val="0"/>
                  <c:y val="-1.4229811454998221E-3"/>
                </c:manualLayout>
              </c:layout>
              <c:numFmt formatCode="&quot;$&quot;#,##0.0;&quot;-&quot;&quot;$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3B6-419E-BB22-1CE4D4A8012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20.399999999999999</c:v>
                </c:pt>
                <c:pt idx="1">
                  <c:v>54</c:v>
                </c:pt>
                <c:pt idx="2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3B6-419E-BB22-1CE4D4A8012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-1.4229811454998221E-3"/>
                </c:manualLayout>
              </c:layout>
              <c:numFmt formatCode="&quot;$&quot;#,##0.0;&quot;-&quot;&quot;$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C3B6-419E-BB22-1CE4D4A8012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0.80000000000000071</c:v>
                </c:pt>
                <c:pt idx="1">
                  <c:v>3.8999999999999986</c:v>
                </c:pt>
                <c:pt idx="2">
                  <c:v>18.900000000000006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3B6-419E-BB22-1CE4D4A8012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2"/>
              <c:layout>
                <c:manualLayout>
                  <c:x val="0"/>
                  <c:y val="-1.4229811454998221E-3"/>
                </c:manualLayout>
              </c:layout>
              <c:numFmt formatCode="&quot;$&quot;#,##0.0;&quot;-&quot;&quot;$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C3B6-419E-BB22-1CE4D4A8012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5.6999999999998607E-2</c:v>
                </c:pt>
                <c:pt idx="1">
                  <c:v>1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3B6-419E-BB22-1CE4D4A801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0409552"/>
        <c:axId val="1"/>
      </c:barChart>
      <c:catAx>
        <c:axId val="804095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1.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04095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262162532547621E-3"/>
          <c:y val="0.1204766107678729"/>
          <c:w val="0.98574756749349046"/>
          <c:h val="0.7943512797881729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4"/>
            <c:invertIfNegative val="0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A7B-4F76-89C6-A852DAFD2167}"/>
              </c:ext>
            </c:extLst>
          </c:dPt>
          <c:dPt>
            <c:idx val="5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A7B-4F76-89C6-A852DAFD2167}"/>
              </c:ext>
            </c:extLst>
          </c:dPt>
          <c:dPt>
            <c:idx val="6"/>
            <c:invertIfNegative val="0"/>
            <c:bubble3D val="0"/>
            <c:spPr>
              <a:solidFill>
                <a:srgbClr val="9696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EA7B-4F76-89C6-A852DAFD216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A7B-4F76-89C6-A852DAFD2167}"/>
              </c:ext>
            </c:extLst>
          </c:dPt>
          <c:dPt>
            <c:idx val="8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EA7B-4F76-89C6-A852DAFD2167}"/>
              </c:ext>
            </c:extLst>
          </c:dPt>
          <c:dPt>
            <c:idx val="9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A7B-4F76-89C6-A852DAFD2167}"/>
              </c:ext>
            </c:extLst>
          </c:dPt>
          <c:dLbls>
            <c:dLbl>
              <c:idx val="0"/>
              <c:layout>
                <c:manualLayout>
                  <c:x val="0"/>
                  <c:y val="-0.349514563106796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A7B-4F76-89C6-A852DAFD2167}"/>
                </c:ext>
              </c:extLst>
            </c:dLbl>
            <c:dLbl>
              <c:idx val="1"/>
              <c:layout>
                <c:manualLayout>
                  <c:x val="0"/>
                  <c:y val="-0.284642541924095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A7B-4F76-89C6-A852DAFD2167}"/>
                </c:ext>
              </c:extLst>
            </c:dLbl>
            <c:dLbl>
              <c:idx val="2"/>
              <c:layout>
                <c:manualLayout>
                  <c:x val="0"/>
                  <c:y val="-7.016769638128861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A7B-4F76-89C6-A852DAFD2167}"/>
                </c:ext>
              </c:extLst>
            </c:dLbl>
            <c:dLbl>
              <c:idx val="3"/>
              <c:layout>
                <c:manualLayout>
                  <c:x val="0"/>
                  <c:y val="-6.310679611650485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A7B-4F76-89C6-A852DAFD2167}"/>
                </c:ext>
              </c:extLst>
            </c:dLbl>
            <c:dLbl>
              <c:idx val="4"/>
              <c:layout>
                <c:manualLayout>
                  <c:x val="0"/>
                  <c:y val="-0.4324801412180053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A7B-4F76-89C6-A852DAFD2167}"/>
                </c:ext>
              </c:extLst>
            </c:dLbl>
            <c:dLbl>
              <c:idx val="5"/>
              <c:layout>
                <c:manualLayout>
                  <c:x val="0"/>
                  <c:y val="-0.240511915269196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A7B-4F76-89C6-A852DAFD2167}"/>
                </c:ext>
              </c:extLst>
            </c:dLbl>
            <c:dLbl>
              <c:idx val="6"/>
              <c:layout>
                <c:manualLayout>
                  <c:x val="0"/>
                  <c:y val="-0.19682259488084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A7B-4F76-89C6-A852DAFD2167}"/>
                </c:ext>
              </c:extLst>
            </c:dLbl>
            <c:dLbl>
              <c:idx val="7"/>
              <c:layout>
                <c:manualLayout>
                  <c:x val="0"/>
                  <c:y val="-0.271844660194174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A7B-4F76-89C6-A852DAFD2167}"/>
                </c:ext>
              </c:extLst>
            </c:dLbl>
            <c:dLbl>
              <c:idx val="8"/>
              <c:layout>
                <c:manualLayout>
                  <c:x val="0"/>
                  <c:y val="-7.811120917917034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A7B-4F76-89C6-A852DAFD2167}"/>
                </c:ext>
              </c:extLst>
            </c:dLbl>
            <c:dLbl>
              <c:idx val="9"/>
              <c:layout>
                <c:manualLayout>
                  <c:x val="0"/>
                  <c:y val="-6.751985878199470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A7B-4F76-89C6-A852DAFD21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18.440000000000001</c:v>
                </c:pt>
                <c:pt idx="1">
                  <c:v>14.63</c:v>
                </c:pt>
                <c:pt idx="2">
                  <c:v>2.0499999999999998</c:v>
                </c:pt>
                <c:pt idx="3">
                  <c:v>1.65</c:v>
                </c:pt>
                <c:pt idx="4">
                  <c:v>23.33</c:v>
                </c:pt>
                <c:pt idx="5">
                  <c:v>12.06</c:v>
                </c:pt>
                <c:pt idx="6">
                  <c:v>9.4700000000000006</c:v>
                </c:pt>
                <c:pt idx="7">
                  <c:v>13.9</c:v>
                </c:pt>
                <c:pt idx="8">
                  <c:v>2.5</c:v>
                </c:pt>
                <c:pt idx="9">
                  <c:v>1.91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7B-4F76-89C6-A852DAFD2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57895728"/>
        <c:axId val="1"/>
      </c:barChart>
      <c:catAx>
        <c:axId val="25789572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.3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578957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884AD-C634-452F-B79F-ECA7824CB12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64A370-E32D-4F2E-9207-34DEC89FB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58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CORB01 Food Sustainability Report 2022</a:t>
            </a:r>
          </a:p>
          <a:p>
            <a:endParaRPr lang="en-US" b="1"/>
          </a:p>
          <a:p>
            <a:r>
              <a:rPr lang="en-US" b="0"/>
              <a:t>Commentary: Nice way to include segment-specific CAGRs; the dollar signs on the chart labels are unnecessary though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36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COR489 AFR 2018</a:t>
            </a:r>
          </a:p>
          <a:p>
            <a:endParaRPr lang="en-US" b="1"/>
          </a:p>
          <a:p>
            <a:r>
              <a:rPr lang="en-US"/>
              <a:t>Commentary: Unusual and effective – if imprecise – visualization (the bubble sizes are eyeballed); the original slide included three quotes expressing that the market had stagnated in NA and EU but was growing in China, but one suffices. Missing sourcing.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22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DUP31 Smart Wall Firearm Detection</a:t>
            </a:r>
          </a:p>
          <a:p>
            <a:endParaRPr lang="en-US" b="1"/>
          </a:p>
          <a:p>
            <a:r>
              <a:rPr lang="en-US" b="0"/>
              <a:t>Commentary: Not sure whether this is the most efficient way to visualize the segmentation here, but it’s definitely easier to read than one big stacked bar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12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COR 622 </a:t>
            </a:r>
            <a:r>
              <a:rPr lang="en-US" b="1" err="1"/>
              <a:t>Metasurface</a:t>
            </a:r>
            <a:r>
              <a:rPr lang="en-US" b="1"/>
              <a:t> Fabrication 2022</a:t>
            </a:r>
          </a:p>
          <a:p>
            <a:endParaRPr lang="en-US" b="1"/>
          </a:p>
          <a:p>
            <a:r>
              <a:rPr lang="en-US" b="0"/>
              <a:t>Commentary: </a:t>
            </a:r>
            <a:r>
              <a:rPr lang="en-US">
                <a:solidFill>
                  <a:srgbClr val="000000"/>
                </a:solidFill>
              </a:rPr>
              <a:t>Nothing groundbreaking but seems like a common slide type that might come up often; title for the graphic should be more explicit about what the audience should focus on (e.g., Cost Drivers for DUV and NIL Fabrication)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368FA-06B8-4001-B754-DD7266063F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70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529A-F74F-A184-6B9E-066E96AFC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CC670-8388-0A48-B8DF-BCD9740D1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F945E-0186-D20A-3092-20103ECB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2D893-7F20-41B6-8F16-B61E6476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A856-A1F0-F8D0-C7B1-1F6CA25F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9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454B-1D04-AE44-23EE-44460A7E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AA48-7F39-9D1C-0957-D7CD04AAF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222C8-CC76-C8BF-7733-DDCF9437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AF8EC-EF02-0163-E4AF-0561F699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DFD7-1613-7D90-7133-1A653057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08340-D361-1757-CC1C-FEB733A1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AE5EC-88E7-3F07-F90E-F98C517AC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47CE9-DAB9-4B91-68D8-1A511C2A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4678A-AE98-BB85-CE84-A90E2A13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1C97-CD80-3327-D6BF-0141875E5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5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76FD-832C-A3BE-D076-2344B45A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5908-3F14-1F1F-7883-6AA936FBE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6B89C-B58A-1ABF-DB7C-ED28EFE1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F1F68-CDF5-D76A-3A9E-9170AB0F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F137A-28E4-6047-2193-C0316A95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51CBE-65F7-B4D5-96E1-9485C51D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3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761D-72B8-E67F-882C-85913B16B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2BF17-1F55-30B5-6609-19AEB168D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B4364-B051-D8A6-F066-7E945DC14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44675-C007-7B8E-253A-24791931B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4236B-C844-60B3-4BEA-2B44FE74A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46F9D-6E24-2BFB-5417-78C17389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F35DE-9105-DE6D-5672-7C9945E3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14D2C-F5EA-9FCC-65F2-008139604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88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4663-AA38-3E43-FAC4-223CE2485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E1FDD-45E0-33D7-D413-331ED9E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5A8E3-A796-AB72-49CC-11C16C73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3B204-C725-EA26-1380-CCC66CCC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8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4DF825-7385-25AC-8137-B434062B4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ACA5D-2607-1192-D5D3-B222CC2B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6D5B5-EC2D-2A3D-C4A1-8C5CFD78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3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DC18-94AB-94E6-4CD0-3994C2FCA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314C-CC95-AFBC-6040-0ADB6A7D5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35975-492B-36CE-AB40-468CBAAFC7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B82E0-67C8-BA3E-C20A-4368E764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58E1-F26F-2911-8890-4F5CA081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9EA27-7FF7-687B-9ABD-0004CA56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8310-5BAA-0294-F59D-08621D75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79A12-BFF6-8851-4D89-A151C307A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8CC91-B664-995B-6931-CAE8AAB4C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6A4CD-8A44-3B5C-370E-4C6FAEF9F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E79B3-022E-597E-53F6-AF01F9CE7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FB7B1-5EDC-2A44-4F35-3675C9D1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98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5D24-58EC-B46D-4F6D-B822701F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DC82B-3607-C571-DB8A-F09134A48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78B77-33B9-9B66-7EED-14EF500FD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62E88-427F-2137-BDE7-66FA6FCA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45CEB-CB2F-FE31-C533-84B0861C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78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024A8A-3C09-84A0-4219-73B4DEE6E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7D91B0-4173-E6D5-8F6F-3434A149F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A5FFD-BA6A-B046-3D4D-026FE99E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89DE5-772F-02ED-B571-0C263A2D9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52E45-A79E-07AA-0DC5-1A8F0E7B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314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FE9EDEA-A558-0897-372C-00462C8B12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999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E9EDEA-A558-0897-372C-00462C8B1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7993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3628"/>
            <a:ext cx="11415765" cy="483551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E5B22B-0FB3-B2D0-6CB2-306782767A36}"/>
              </a:ext>
            </a:extLst>
          </p:cNvPr>
          <p:cNvSpPr/>
          <p:nvPr userDrawn="1"/>
        </p:nvSpPr>
        <p:spPr>
          <a:xfrm>
            <a:off x="0" y="6103088"/>
            <a:ext cx="12192000" cy="754912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03B2C28-6825-22F6-D64A-D678EBD3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22773"/>
            <a:ext cx="396909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4B2CE3A-E71E-7684-7D73-B470F97175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7669" y="6264823"/>
            <a:ext cx="10946004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C72577-658E-4D0C-D83D-DAE04B299F98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5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89FEF2BE-6A72-EF47-C147-95FE769CB6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0998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FEF2BE-6A72-EF47-C147-95FE769CB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3AF0422-6A3A-39A4-44B1-B84F30E7F39D}"/>
              </a:ext>
            </a:extLst>
          </p:cNvPr>
          <p:cNvSpPr/>
          <p:nvPr userDrawn="1"/>
        </p:nvSpPr>
        <p:spPr>
          <a:xfrm>
            <a:off x="0" y="-1"/>
            <a:ext cx="12192000" cy="1028701"/>
          </a:xfrm>
          <a:prstGeom prst="rect">
            <a:avLst/>
          </a:prstGeom>
          <a:solidFill>
            <a:srgbClr val="1E4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err="1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74405"/>
            <a:ext cx="11415764" cy="849910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49DF-0F8A-96D2-E595-655DEA9C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0489" y="6368228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FA95F14-EAC0-61F9-4E30-4F5E08CE9D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000" y="6317988"/>
            <a:ext cx="10942673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807626-B196-698F-A480-42D8B0200B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1000" y="1103106"/>
            <a:ext cx="11415765" cy="5020444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2999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FAE50B-5748-1E55-25D9-2FDD48ABEC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6203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5" imgH="416" progId="TCLayout.ActiveDocument.1">
                  <p:embed/>
                </p:oleObj>
              </mc:Choice>
              <mc:Fallback>
                <p:oleObj name="think-cell Slide" r:id="rId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FAE50B-5748-1E55-25D9-2FDD48ABEC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44CA2AF8-A3F3-FA9F-AFC3-8695D5221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85038"/>
            <a:ext cx="11415765" cy="84991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lnSpc>
                <a:spcPct val="100000"/>
              </a:lnSpc>
              <a:spcBef>
                <a:spcPts val="600"/>
              </a:spcBef>
              <a:defRPr sz="2800" b="0">
                <a:solidFill>
                  <a:srgbClr val="000000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538BF5-6A46-B261-F667-8EE088BEF8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0999" y="1116637"/>
            <a:ext cx="11415765" cy="5024688"/>
          </a:xfrm>
          <a:prstGeom prst="rect">
            <a:avLst/>
          </a:prstGeom>
        </p:spPr>
        <p:txBody>
          <a:bodyPr/>
          <a:lstStyle>
            <a:lvl1pPr marL="233363" indent="-23336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</a:defRPr>
            </a:lvl1pPr>
            <a:lvl2pPr marL="457200" indent="-223838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6905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914400" indent="-223838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147763" indent="-23336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D7427BE-4EBA-FCEE-FD65-D50EC7FCA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9856" y="6357595"/>
            <a:ext cx="396909" cy="365125"/>
          </a:xfrm>
        </p:spPr>
        <p:txBody>
          <a:bodyPr/>
          <a:lstStyle>
            <a:lvl1pPr algn="ctr">
              <a:defRPr/>
            </a:lvl1pPr>
          </a:lstStyle>
          <a:p>
            <a:fld id="{84D58D1B-E4CD-4092-A64A-067BEFC75A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680202-091A-2FF6-9296-261537F276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0999" y="6307355"/>
            <a:ext cx="10910777" cy="4656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None/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-285750">
              <a:lnSpc>
                <a:spcPct val="100000"/>
              </a:lnSpc>
              <a:spcBef>
                <a:spcPts val="600"/>
              </a:spcBef>
              <a:buFont typeface="Calibri" panose="020F0502020204030204" pitchFamily="34" charset="0"/>
              <a:buChar char="–"/>
              <a:defRPr sz="1800">
                <a:solidFill>
                  <a:schemeClr val="tx1">
                    <a:lumMod val="50000"/>
                  </a:schemeClr>
                </a:solidFill>
              </a:defRPr>
            </a:lvl2pPr>
            <a:lvl3pPr marL="573088" indent="-231775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800">
                <a:solidFill>
                  <a:schemeClr val="tx1">
                    <a:lumMod val="50000"/>
                  </a:schemeClr>
                </a:solidFill>
              </a:defRPr>
            </a:lvl3pPr>
            <a:lvl4pPr marL="858838" indent="-285750">
              <a:lnSpc>
                <a:spcPct val="100000"/>
              </a:lnSpc>
              <a:spcBef>
                <a:spcPts val="600"/>
              </a:spcBef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50000"/>
                  </a:schemeClr>
                </a:solidFill>
              </a:defRPr>
            </a:lvl4pPr>
            <a:lvl5pPr marL="1085850" indent="-2270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F7293-0224-05BF-D733-19F156C60FFF}"/>
              </a:ext>
            </a:extLst>
          </p:cNvPr>
          <p:cNvCxnSpPr>
            <a:cxnSpLocks/>
          </p:cNvCxnSpPr>
          <p:nvPr userDrawn="1"/>
        </p:nvCxnSpPr>
        <p:spPr>
          <a:xfrm>
            <a:off x="386813" y="1002205"/>
            <a:ext cx="11427888" cy="0"/>
          </a:xfrm>
          <a:prstGeom prst="line">
            <a:avLst/>
          </a:prstGeom>
          <a:ln w="38100">
            <a:solidFill>
              <a:srgbClr val="1E4C7F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334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40">
          <p15:clr>
            <a:srgbClr val="FBAE40"/>
          </p15:clr>
        </p15:guide>
        <p15:guide id="3" pos="74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47CFB-B76C-6071-46FB-AD5D128EB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CF669-23FB-B298-3ADF-44C07B9B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15B1F-4A7D-32AF-EECA-F53AC29A1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D15D9-782B-42DE-B092-AF14BFF39D3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6A0F4-BABC-0F74-084F-33336E4A7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E6012-498D-41E2-A179-AD319027F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CC9AC-BE7B-46A9-9F1E-0430E8DD3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2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" Type="http://schemas.openxmlformats.org/officeDocument/2006/relationships/tags" Target="../tags/tag6.xml"/><Relationship Id="rId21" Type="http://schemas.openxmlformats.org/officeDocument/2006/relationships/slideLayout" Target="../slideLayouts/slideLayout12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chart" Target="../charts/chart1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image" Target="../media/image1.emf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oleObject" Target="../embeddings/oleObject4.bin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26" Type="http://schemas.openxmlformats.org/officeDocument/2006/relationships/chart" Target="../charts/chart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5" Type="http://schemas.openxmlformats.org/officeDocument/2006/relationships/image" Target="../media/image1.emf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oleObject" Target="../embeddings/oleObject6.bin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notesSlide" Target="../notesSlides/notesSlide3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7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3231273-35A6-5D41-1D78-570ACDD9FC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15" imgH="416" progId="TCLayout.ActiveDocument.1">
                  <p:embed/>
                </p:oleObj>
              </mc:Choice>
              <mc:Fallback>
                <p:oleObj name="think-cell Slide" r:id="rId23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231273-35A6-5D41-1D78-570ACDD9FC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8C38280-6408-547F-A183-A99A03AB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solidFill>
                  <a:srgbClr val="000000"/>
                </a:solidFill>
              </a:rPr>
              <a:t>While early-stage, precision and cultivated proteins are poised for rapid growth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06829-F542-3910-B28E-7C2F76AA93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96313" y="1248032"/>
            <a:ext cx="3200452" cy="4701110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b="1">
                <a:cs typeface="Calibri"/>
              </a:rPr>
              <a:t>Notes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cs typeface="Calibri"/>
              </a:rPr>
              <a:t>Many plant-based protein categories are well-established (e.g., nut milks) and will continue to make up the bulk of the market for the foreseeable future</a:t>
            </a:r>
            <a:endParaRPr lang="en-US">
              <a:solidFill>
                <a:schemeClr val="tx1"/>
              </a:solidFill>
              <a:cs typeface="Calibri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  <a:cs typeface="Calibri"/>
              </a:rPr>
              <a:t>Proteins from fermentation and tissue cultivation </a:t>
            </a:r>
            <a:r>
              <a:rPr lang="en-US">
                <a:solidFill>
                  <a:schemeClr val="tx1"/>
                </a:solidFill>
                <a:cs typeface="Calibri"/>
              </a:rPr>
              <a:t>are expected to grow at a faster rate (although th</a:t>
            </a:r>
            <a:r>
              <a:rPr lang="en-US" sz="1800">
                <a:solidFill>
                  <a:schemeClr val="tx1"/>
                </a:solidFill>
                <a:cs typeface="Calibri"/>
              </a:rPr>
              <a:t>ere is some debate about growth rates given remaining technical and regulatory challenges)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B9AC-6AF3-12EE-A2AA-60C41D41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5C386-3953-91A8-710C-8FDEFB2F30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Source: Newry analysis (moderate growth scenario)</a:t>
            </a: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76E184B6-22B5-B0D3-06CD-A95EFC55E6A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1524000"/>
          <a:ext cx="8164513" cy="446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626C2C-600D-8EF8-F58A-4B9CD234E89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711325" y="1308100"/>
            <a:ext cx="5332413" cy="33274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ED32291-E540-1EAF-BFF5-C29D06506D16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1863725" y="5089525"/>
            <a:ext cx="439738" cy="219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8575" tIns="0" rIns="28575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551D0E1-6567-47A8-8DBD-8AA598D1FD86}" type="datetime'$''''''''''''''0''''''''''''''.''''''''''''''''1'''''''''''">
              <a:rPr lang="en-US" altLang="en-US" sz="16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$0.1</a:t>
            </a:fld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22F5-B717-8597-5F16-5CECBAA0E751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1122363" y="5097463"/>
            <a:ext cx="439738" cy="219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8575" tIns="0" rIns="28575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FB82E9A-A8CB-414C-B86E-79D905B8D08F}" type="datetime'''''''''$''''''''''''''''0.''''''''''''''''''8'">
              <a:rPr lang="en-US" altLang="en-US" sz="16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$0.8</a:t>
            </a:fld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92B5B-5CA9-AF1C-3687-EC57685B966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489075" y="5707063"/>
            <a:ext cx="4445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756F3E0-6240-491D-86A4-F0F304F97838}" type="datetime'''''''''''''''''''''2''''''''''''''''''02''''0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2020</a:t>
            </a:fld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A04354-856A-8D07-5A18-3B83EE990AB9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4529138" y="4319588"/>
            <a:ext cx="439738" cy="2190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8575" tIns="0" rIns="28575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45B2E04-FBD1-480A-B082-BA7E52D6C1EB}" type="datetime'''''''''''''''''''''$''''''''1''.''''''''''''''''''0'''''''">
              <a:rPr lang="en-US" altLang="en-US" sz="16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$1.0</a:t>
            </a:fld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C57ABC-0718-CDF4-F101-AFA08AA887BE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787775" y="4370388"/>
            <a:ext cx="439738" cy="219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28575" tIns="0" rIns="28575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2F35E16-AFAF-4F81-B59C-EEFDF8195C74}" type="datetime'''''''''''''''''$''''''''''3.''''''''''''9'''''">
              <a:rPr lang="en-US" altLang="en-US" sz="16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$3.9</a:t>
            </a:fld>
            <a:endParaRPr lang="en-US" sz="1600" err="1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F7D3C6-763D-2410-C7C6-84DA2293597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154488" y="5707063"/>
            <a:ext cx="4445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F49BD3E-0C4D-4A20-B111-15654D64CE74}" type="datetime'''''''''''''''''2''''''''''''''''''''''0''''''2''''5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3E9C5B-4F6D-25B8-D8F6-A1DA268B994B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6821488" y="5707063"/>
            <a:ext cx="4445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D109F1D-EBA0-4DEF-8C19-09650606E90D}" type="datetime'''''''''''20''''''30'''''''''''''''''''''''''''">
              <a:rPr lang="en-US" altLang="en-US" sz="16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9CF578-2296-30BD-4785-9CDA5543055C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438275" y="4870450"/>
            <a:ext cx="54768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3008C2C-A92E-4687-8EBB-57FECF9319AC}" type="datetime'''$''''''''21.''''''''''''''''3''''''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$21.3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791F07-AA34-0655-7E9E-E197AA23A0C0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4103688" y="4100513"/>
            <a:ext cx="54768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63D3C5C-E9DF-4B76-9F09-B208A5BEB7A0}" type="datetime'''''''''''''''''''''$''''''''''5''8''.''9''''''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$58.9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01EC75-D17E-DE9B-7507-39489AA3E826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6716713" y="1627188"/>
            <a:ext cx="6556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8575" tIns="0" rIns="2857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9355FC7-76B7-4307-B019-893D160AB1EA}" type="datetime'$''''''1''8''''''1''''''''''''''''''''''.''''''9'">
              <a:rPr lang="en-US" altLang="en-US" sz="1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$181.9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4421A2-0B90-6CB0-2C15-AB11CCD3454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025900" y="2798763"/>
            <a:ext cx="701675" cy="346075"/>
          </a:xfrm>
          <a:prstGeom prst="ellipse">
            <a:avLst/>
          </a:prstGeom>
          <a:solidFill>
            <a:schemeClr val="bg1"/>
          </a:solidFill>
          <a:ln w="9525" algn="ctr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A30F5F3-C7F2-4B7D-B180-720C17CB76E4}" type="datetime'''''''+''''''''''''''''''''''''''''24''''''''''''''%'''''''">
              <a:rPr lang="en-US" altLang="en-US" sz="16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+24%</a:t>
            </a:fld>
            <a:endParaRPr lang="en-US" sz="1600" b="1" err="1">
              <a:solidFill>
                <a:schemeClr val="tx1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D18469AE-0697-56D0-4A0E-4108EBCC2775}"/>
              </a:ext>
            </a:extLst>
          </p:cNvPr>
          <p:cNvSpPr txBox="1">
            <a:spLocks/>
          </p:cNvSpPr>
          <p:nvPr/>
        </p:nvSpPr>
        <p:spPr>
          <a:xfrm>
            <a:off x="377825" y="1130301"/>
            <a:ext cx="8000056" cy="342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>
                <a:solidFill>
                  <a:schemeClr val="accent2"/>
                </a:solidFill>
              </a:rPr>
              <a:t>GLOBAL ALT PROTEIN MARKET SIZE, 2020 – 2030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600" i="1"/>
              <a:t>Billions of USD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BA4E6-EE69-031E-D1F7-4FABC520D9D5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458788" y="1970088"/>
            <a:ext cx="285750" cy="2143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49731F-3D5E-76CC-89BB-2A30ACBC7816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58788" y="2509838"/>
            <a:ext cx="285750" cy="21431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30B488-2CD0-4FB4-1BCB-CD1E6E300520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58788" y="3049588"/>
            <a:ext cx="285750" cy="21431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4313C9-C152-2939-FC92-43A4B69D3720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795338" y="1963738"/>
            <a:ext cx="2320925" cy="488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D912DF7-BE1A-4987-B2AD-20BADF9D67B3}" type="datetime'C''u''ltiv''''a''''t''''e''d ''P''ro''''t''e''in'''''''''''''">
              <a:rPr lang="en-US" altLang="en-US" sz="1600" smtClean="0">
                <a:solidFill>
                  <a:schemeClr val="tx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Cultivated Protein</a:t>
            </a:fld>
            <a:r>
              <a:rPr lang="en-US" altLang="en-US" sz="1600">
                <a:solidFill>
                  <a:schemeClr val="tx1"/>
                </a:solidFill>
              </a:rPr>
              <a:t>	</a:t>
            </a:r>
            <a:fld id="{64D34465-D2C4-4671-89E5-21FC4D030D0E}" type="datetime'''''''''''''''''''+''''''''''''''''''80%'''''''''''''''">
              <a:rPr lang="en-US" altLang="en-US" sz="1600" smtClean="0">
                <a:solidFill>
                  <a:schemeClr val="tx1"/>
                </a:solidFill>
                <a:effectLst/>
              </a:rPr>
              <a:pPr>
                <a:spcBef>
                  <a:spcPct val="0"/>
                </a:spcBef>
                <a:spcAft>
                  <a:spcPct val="0"/>
                </a:spcAft>
              </a:pPr>
              <a:t>+80%</a:t>
            </a:fld>
            <a:endParaRPr lang="en-US" altLang="en-US" sz="16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8AA332-C0FE-9772-5F0C-07E0A6FCC96E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795338" y="2503488"/>
            <a:ext cx="232092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chemeClr val="tx1"/>
                </a:solidFill>
              </a:rPr>
              <a:t>Precision Protein	</a:t>
            </a:r>
            <a:fld id="{17DA6ACE-5D75-4B62-9EC7-0CAC126E425A}" type="datetime'''''''''+''''''''3''''7%'''''''''''''''''''''''''''''">
              <a:rPr lang="en-US" altLang="en-US" sz="1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+37%</a:t>
            </a:fld>
            <a:endParaRPr lang="en-US" altLang="en-US" sz="1600">
              <a:solidFill>
                <a:schemeClr val="tx1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361D18-D83C-6581-9508-F89272BAC16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795338" y="3043238"/>
            <a:ext cx="23209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EA41313-AEF4-45FC-95AB-DEF884CEB71B}" type="datetime'''''P''''l''''''''a''nt-b''a''''sed'''' ''P''''''''ro''tein'''">
              <a:rPr lang="en-US" altLang="en-US" sz="1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Plant-based Protein</a:t>
            </a:fld>
            <a:r>
              <a:rPr lang="en-US" altLang="en-US" sz="1600">
                <a:solidFill>
                  <a:schemeClr val="tx1"/>
                </a:solidFill>
              </a:rPr>
              <a:t>	</a:t>
            </a:r>
            <a:fld id="{9D0522EC-2170-4BBB-989F-103647411364}" type="datetime'''''''''''''''''''''''+''2''''''1''''''''''''%'''''''''''''''">
              <a:rPr lang="en-US" altLang="en-US" sz="16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+21%</a:t>
            </a:fld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272B450-FF67-C262-6672-15DE93B28AE0}"/>
              </a:ext>
            </a:extLst>
          </p:cNvPr>
          <p:cNvSpPr/>
          <p:nvPr/>
        </p:nvSpPr>
        <p:spPr>
          <a:xfrm>
            <a:off x="2571750" y="1871663"/>
            <a:ext cx="596900" cy="42703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16B7308-29D0-43C6-9DB9-C17B83B1ABD1}"/>
              </a:ext>
            </a:extLst>
          </p:cNvPr>
          <p:cNvSpPr/>
          <p:nvPr/>
        </p:nvSpPr>
        <p:spPr>
          <a:xfrm>
            <a:off x="2571750" y="2400300"/>
            <a:ext cx="596900" cy="42703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E97C31E-74A8-BD4A-6572-A2809DBF3148}"/>
              </a:ext>
            </a:extLst>
          </p:cNvPr>
          <p:cNvSpPr/>
          <p:nvPr/>
        </p:nvSpPr>
        <p:spPr>
          <a:xfrm>
            <a:off x="2571750" y="2928938"/>
            <a:ext cx="596900" cy="427038"/>
          </a:xfrm>
          <a:prstGeom prst="ellipse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err="1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3F74F-6B67-B473-6EC1-794B64A486B6}"/>
              </a:ext>
            </a:extLst>
          </p:cNvPr>
          <p:cNvSpPr/>
          <p:nvPr/>
        </p:nvSpPr>
        <p:spPr>
          <a:xfrm>
            <a:off x="7878763" y="79799"/>
            <a:ext cx="3932237" cy="402929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Market Sizing 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316219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03E456B-D95D-66D6-BC91-496F6B0B2E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3E456B-D95D-66D6-BC91-496F6B0B2E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C933EBB-7AA0-2966-B667-1641A24A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 global mkt. is ~10,000 reactors with &gt;80% of demand from China and India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EE6BE0-0B1C-8180-B576-08EEF4AB3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50883-70DE-2C02-2CD3-A5992C145F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Source: &lt;&gt;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75620D-0000-9D1D-4C2C-E099F50B416B}"/>
              </a:ext>
            </a:extLst>
          </p:cNvPr>
          <p:cNvSpPr/>
          <p:nvPr/>
        </p:nvSpPr>
        <p:spPr>
          <a:xfrm>
            <a:off x="8485251" y="1164890"/>
            <a:ext cx="3325749" cy="422749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Market Sizing by Geography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AEB0359-3A97-8F40-1686-68A8C355DFD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5" t="12819" r="412" b="21209"/>
          <a:stretch/>
        </p:blipFill>
        <p:spPr>
          <a:xfrm>
            <a:off x="690088" y="1682649"/>
            <a:ext cx="8596590" cy="3492702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C22CB8F-D0B6-EEFF-847E-871EA3AF43B4}"/>
              </a:ext>
            </a:extLst>
          </p:cNvPr>
          <p:cNvGrpSpPr/>
          <p:nvPr/>
        </p:nvGrpSpPr>
        <p:grpSpPr>
          <a:xfrm>
            <a:off x="5589304" y="3230035"/>
            <a:ext cx="1273757" cy="1179558"/>
            <a:chOff x="8514568" y="3729048"/>
            <a:chExt cx="892407" cy="896582"/>
          </a:xfrm>
          <a:solidFill>
            <a:srgbClr val="92D050">
              <a:alpha val="63000"/>
            </a:srgbClr>
          </a:solidFill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FE32AA6-C45A-44EA-9D21-5E75F2ADB322}"/>
                </a:ext>
              </a:extLst>
            </p:cNvPr>
            <p:cNvSpPr/>
            <p:nvPr/>
          </p:nvSpPr>
          <p:spPr>
            <a:xfrm>
              <a:off x="8533834" y="3729048"/>
              <a:ext cx="873141" cy="896582"/>
            </a:xfrm>
            <a:prstGeom prst="ellipse">
              <a:avLst/>
            </a:prstGeom>
            <a:solidFill>
              <a:schemeClr val="accent3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CCAD1F8-3503-C89E-0B74-B43B56F0FF7B}"/>
                </a:ext>
              </a:extLst>
            </p:cNvPr>
            <p:cNvSpPr txBox="1"/>
            <p:nvPr/>
          </p:nvSpPr>
          <p:spPr>
            <a:xfrm>
              <a:off x="8514568" y="3920004"/>
              <a:ext cx="877647" cy="5146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~2,550 Units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9102A579-FFD1-EFB0-9C00-A0E662D54765}"/>
              </a:ext>
            </a:extLst>
          </p:cNvPr>
          <p:cNvSpPr txBox="1"/>
          <p:nvPr/>
        </p:nvSpPr>
        <p:spPr>
          <a:xfrm>
            <a:off x="389325" y="1177526"/>
            <a:ext cx="7122799" cy="461665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1E4C7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REGIONAL BATCH REACTOR MARKET SIZE ESTIMATES, 2017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0F8940E-E5E3-422B-87D8-37196FE6A147}"/>
              </a:ext>
            </a:extLst>
          </p:cNvPr>
          <p:cNvGrpSpPr/>
          <p:nvPr/>
        </p:nvGrpSpPr>
        <p:grpSpPr>
          <a:xfrm>
            <a:off x="1707185" y="2931005"/>
            <a:ext cx="1051212" cy="677108"/>
            <a:chOff x="4760169" y="3078487"/>
            <a:chExt cx="1308858" cy="902120"/>
          </a:xfrm>
          <a:solidFill>
            <a:srgbClr val="FDA881">
              <a:alpha val="67000"/>
            </a:srgbClr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86BCAE3-EDD3-8163-2923-C07AEE4E432A}"/>
                </a:ext>
              </a:extLst>
            </p:cNvPr>
            <p:cNvSpPr/>
            <p:nvPr/>
          </p:nvSpPr>
          <p:spPr>
            <a:xfrm>
              <a:off x="4863530" y="3117544"/>
              <a:ext cx="1174881" cy="824008"/>
            </a:xfrm>
            <a:prstGeom prst="ellipse">
              <a:avLst/>
            </a:prstGeom>
            <a:solidFill>
              <a:schemeClr val="accent6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09D0F09-9291-BB55-B226-5714070FDF2B}"/>
                </a:ext>
              </a:extLst>
            </p:cNvPr>
            <p:cNvSpPr txBox="1"/>
            <p:nvPr/>
          </p:nvSpPr>
          <p:spPr>
            <a:xfrm>
              <a:off x="4760169" y="3078487"/>
              <a:ext cx="1308858" cy="902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~325 Units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926CEA-B2AC-9E78-ADD6-75DFDF4C67CD}"/>
              </a:ext>
            </a:extLst>
          </p:cNvPr>
          <p:cNvGrpSpPr/>
          <p:nvPr/>
        </p:nvGrpSpPr>
        <p:grpSpPr>
          <a:xfrm>
            <a:off x="4192267" y="2380020"/>
            <a:ext cx="1086040" cy="850017"/>
            <a:chOff x="6767694" y="2532697"/>
            <a:chExt cx="1663874" cy="1075784"/>
          </a:xfrm>
          <a:solidFill>
            <a:srgbClr val="FDA881">
              <a:alpha val="76000"/>
            </a:srgbClr>
          </a:solidFill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1A56730-CD9E-B888-B6BC-811FCA4E9A6E}"/>
                </a:ext>
              </a:extLst>
            </p:cNvPr>
            <p:cNvSpPr/>
            <p:nvPr/>
          </p:nvSpPr>
          <p:spPr>
            <a:xfrm>
              <a:off x="6891167" y="2532697"/>
              <a:ext cx="1468766" cy="1075784"/>
            </a:xfrm>
            <a:prstGeom prst="ellipse">
              <a:avLst/>
            </a:prstGeom>
            <a:solidFill>
              <a:schemeClr val="accent6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5B65AD-6560-E90F-1C50-A269FFA3D4A6}"/>
                </a:ext>
              </a:extLst>
            </p:cNvPr>
            <p:cNvSpPr txBox="1"/>
            <p:nvPr/>
          </p:nvSpPr>
          <p:spPr>
            <a:xfrm>
              <a:off x="6767694" y="2677291"/>
              <a:ext cx="1663874" cy="856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~550 Units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F13BD7E-83BC-0209-8E03-7B790549F3BA}"/>
              </a:ext>
            </a:extLst>
          </p:cNvPr>
          <p:cNvGrpSpPr/>
          <p:nvPr/>
        </p:nvGrpSpPr>
        <p:grpSpPr>
          <a:xfrm>
            <a:off x="6470992" y="2034302"/>
            <a:ext cx="1805825" cy="1571585"/>
            <a:chOff x="18233793" y="1857109"/>
            <a:chExt cx="1991015" cy="1437537"/>
          </a:xfrm>
          <a:solidFill>
            <a:srgbClr val="00B050">
              <a:alpha val="40000"/>
            </a:srgbClr>
          </a:solidFill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F7A7E35-7447-34FA-0090-BFE65369BD9D}"/>
                </a:ext>
              </a:extLst>
            </p:cNvPr>
            <p:cNvSpPr/>
            <p:nvPr/>
          </p:nvSpPr>
          <p:spPr>
            <a:xfrm>
              <a:off x="18233793" y="1857109"/>
              <a:ext cx="1991015" cy="1437537"/>
            </a:xfrm>
            <a:prstGeom prst="ellipse">
              <a:avLst/>
            </a:prstGeom>
            <a:solidFill>
              <a:schemeClr val="accent2">
                <a:alpha val="78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BBCFB06-2920-5B3D-C9C2-70CB0505A4F0}"/>
                </a:ext>
              </a:extLst>
            </p:cNvPr>
            <p:cNvSpPr txBox="1"/>
            <p:nvPr/>
          </p:nvSpPr>
          <p:spPr>
            <a:xfrm>
              <a:off x="18473003" y="2381137"/>
              <a:ext cx="1463696" cy="3941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~6,000 Units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7352B1FD-28D3-1AEE-9D3E-8C1AF205CDDF}"/>
              </a:ext>
            </a:extLst>
          </p:cNvPr>
          <p:cNvSpPr txBox="1"/>
          <p:nvPr/>
        </p:nvSpPr>
        <p:spPr>
          <a:xfrm>
            <a:off x="627847" y="3522801"/>
            <a:ext cx="1839247" cy="41549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North America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82FAFC-4978-8F88-EF26-D0591A603E0B}"/>
              </a:ext>
            </a:extLst>
          </p:cNvPr>
          <p:cNvSpPr txBox="1"/>
          <p:nvPr/>
        </p:nvSpPr>
        <p:spPr>
          <a:xfrm>
            <a:off x="6687952" y="4073283"/>
            <a:ext cx="652743" cy="430887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India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1A627C-9EFF-F473-49A1-DB0C11568106}"/>
              </a:ext>
            </a:extLst>
          </p:cNvPr>
          <p:cNvSpPr txBox="1"/>
          <p:nvPr/>
        </p:nvSpPr>
        <p:spPr>
          <a:xfrm>
            <a:off x="7873830" y="3309885"/>
            <a:ext cx="734496" cy="430887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China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CC7B9A-ED68-1951-9DDD-9EED223A63D1}"/>
              </a:ext>
            </a:extLst>
          </p:cNvPr>
          <p:cNvSpPr txBox="1"/>
          <p:nvPr/>
        </p:nvSpPr>
        <p:spPr>
          <a:xfrm>
            <a:off x="3652536" y="4382256"/>
            <a:ext cx="1357808" cy="415498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Rest of World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DE8905-5C52-4E1C-E91C-6DD80A356AA1}"/>
              </a:ext>
            </a:extLst>
          </p:cNvPr>
          <p:cNvSpPr/>
          <p:nvPr/>
        </p:nvSpPr>
        <p:spPr>
          <a:xfrm rot="16200000">
            <a:off x="10053285" y="3206730"/>
            <a:ext cx="3277440" cy="295633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4"/>
              </a:gs>
              <a:gs pos="95000">
                <a:schemeClr val="accent6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5EB95C-CBE9-0229-39D5-42362548F263}"/>
              </a:ext>
            </a:extLst>
          </p:cNvPr>
          <p:cNvSpPr txBox="1"/>
          <p:nvPr/>
        </p:nvSpPr>
        <p:spPr>
          <a:xfrm>
            <a:off x="10602716" y="4716495"/>
            <a:ext cx="486804" cy="336657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57875">
                    <a:lumMod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Shrinking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1CAED6-819D-4C04-BA4F-76718BCCBD14}"/>
              </a:ext>
            </a:extLst>
          </p:cNvPr>
          <p:cNvSpPr txBox="1"/>
          <p:nvPr/>
        </p:nvSpPr>
        <p:spPr>
          <a:xfrm>
            <a:off x="10543318" y="1621934"/>
            <a:ext cx="486804" cy="336657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57875">
                    <a:lumMod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Growing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76BC5B-4E13-46A8-9197-BDB0AADF52D8}"/>
              </a:ext>
            </a:extLst>
          </p:cNvPr>
          <p:cNvSpPr txBox="1"/>
          <p:nvPr/>
        </p:nvSpPr>
        <p:spPr>
          <a:xfrm>
            <a:off x="4212973" y="1958513"/>
            <a:ext cx="958689" cy="415498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Europe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5349A38-4B9D-25CB-69AD-E01099CADBC9}"/>
              </a:ext>
            </a:extLst>
          </p:cNvPr>
          <p:cNvGrpSpPr/>
          <p:nvPr/>
        </p:nvGrpSpPr>
        <p:grpSpPr>
          <a:xfrm>
            <a:off x="3431170" y="3525329"/>
            <a:ext cx="1597442" cy="918472"/>
            <a:chOff x="8362621" y="3729048"/>
            <a:chExt cx="1226553" cy="896582"/>
          </a:xfrm>
          <a:solidFill>
            <a:srgbClr val="FFC000">
              <a:alpha val="63000"/>
            </a:srgbClr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71E036F-448E-DF8A-D3D1-64326CA394DE}"/>
                </a:ext>
              </a:extLst>
            </p:cNvPr>
            <p:cNvSpPr/>
            <p:nvPr/>
          </p:nvSpPr>
          <p:spPr>
            <a:xfrm>
              <a:off x="8533834" y="3729048"/>
              <a:ext cx="873141" cy="896582"/>
            </a:xfrm>
            <a:prstGeom prst="ellipse">
              <a:avLst/>
            </a:prstGeom>
            <a:solidFill>
              <a:schemeClr val="accent4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2D6E3C1-02B8-4B31-8927-31C7C20657EC}"/>
                </a:ext>
              </a:extLst>
            </p:cNvPr>
            <p:cNvSpPr txBox="1"/>
            <p:nvPr/>
          </p:nvSpPr>
          <p:spPr>
            <a:xfrm>
              <a:off x="8362621" y="3993400"/>
              <a:ext cx="1226553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alpha val="0"/>
                  </a:srgb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AB225B7-92AC-CB59-43C3-958F38D6F1DF}"/>
                </a:ext>
              </a:extLst>
            </p:cNvPr>
            <p:cNvSpPr txBox="1"/>
            <p:nvPr/>
          </p:nvSpPr>
          <p:spPr>
            <a:xfrm>
              <a:off x="8508410" y="3956821"/>
              <a:ext cx="908996" cy="4206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91440" rIns="91440" bIns="9144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ea"/>
                  <a:cs typeface="+mn-cs"/>
                </a:rPr>
                <a:t>~850 Units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F90DAEE-228F-2A9D-6B52-BD14D1A3E0E1}"/>
              </a:ext>
            </a:extLst>
          </p:cNvPr>
          <p:cNvSpPr txBox="1"/>
          <p:nvPr/>
        </p:nvSpPr>
        <p:spPr>
          <a:xfrm>
            <a:off x="10294431" y="3218720"/>
            <a:ext cx="1232952" cy="384373"/>
          </a:xfrm>
          <a:prstGeom prst="rect">
            <a:avLst/>
          </a:prstGeom>
          <a:noFill/>
          <a:ln>
            <a:noFill/>
          </a:ln>
        </p:spPr>
        <p:txBody>
          <a:bodyPr wrap="none" lIns="91440" tIns="91440" rIns="91440" bIns="9144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857875">
                    <a:lumMod val="50000"/>
                  </a:srgbClr>
                </a:solidFill>
                <a:effectLst/>
                <a:uLnTx/>
                <a:uFillTx/>
                <a:ea typeface="+mn-ea"/>
                <a:cs typeface="+mn-cs"/>
              </a:rPr>
              <a:t>Zero Growth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98C96E-6AD1-BD53-90ED-BDF7A61CC878}"/>
              </a:ext>
            </a:extLst>
          </p:cNvPr>
          <p:cNvSpPr/>
          <p:nvPr/>
        </p:nvSpPr>
        <p:spPr>
          <a:xfrm>
            <a:off x="381000" y="5223680"/>
            <a:ext cx="11430000" cy="10119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“Western markets have declined significantly… India may have a 7% growth rate… China growth was phenomenally high over the last 15 years but has probably tailed off a little in the last five years.”	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– </a:t>
            </a:r>
            <a:r>
              <a:rPr kumimoji="0" lang="en-US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Andrew Wills, CEO, </a:t>
            </a:r>
            <a:r>
              <a:rPr kumimoji="0" lang="en-US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Pfaudler</a:t>
            </a:r>
            <a:r>
              <a:rPr kumimoji="0" lang="en-US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(former)</a:t>
            </a:r>
          </a:p>
        </p:txBody>
      </p:sp>
    </p:spTree>
    <p:extLst>
      <p:ext uri="{BB962C8B-B14F-4D97-AF65-F5344CB8AC3E}">
        <p14:creationId xmlns:p14="http://schemas.microsoft.com/office/powerpoint/2010/main" val="1221559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B23E1020-E62F-6327-8BD3-14C92B8FB94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4" imgW="415" imgH="416" progId="TCLayout.ActiveDocument.1">
                  <p:embed/>
                </p:oleObj>
              </mc:Choice>
              <mc:Fallback>
                <p:oleObj name="think-cell Slide" r:id="rId24" imgW="415" imgH="416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3E1020-E62F-6327-8BD3-14C92B8FB9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FCD7133-4C2C-514C-BD4A-6D67593CD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solidFill>
                  <a:schemeClr val="tx1"/>
                </a:solidFill>
              </a:rPr>
              <a:t>WTMD systems are sold into a variety of market segments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008DC-7C90-B2ED-BD79-B6391625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09426-2C5F-61BE-E24B-F674AD2477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Source: QY Market Research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0B9C3-11A9-E32A-1BD6-CEB9E329C97B}"/>
              </a:ext>
            </a:extLst>
          </p:cNvPr>
          <p:cNvSpPr/>
          <p:nvPr/>
        </p:nvSpPr>
        <p:spPr>
          <a:xfrm>
            <a:off x="377825" y="1150507"/>
            <a:ext cx="8142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2"/>
                </a:solidFill>
              </a:rPr>
              <a:t>WTMD SALES BY MARKET SEGMENT</a:t>
            </a:r>
          </a:p>
          <a:p>
            <a:r>
              <a:rPr lang="en-US" i="1"/>
              <a:t>Millions of USD</a:t>
            </a: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4FE08865-1304-1F22-728D-0496C34BBC55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1976438"/>
          <a:ext cx="11583988" cy="3597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A693681-595D-DE2C-005F-55A4D7219F8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1038" y="5326063"/>
            <a:ext cx="533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BCF84A7-7E6B-437C-87C1-8C4AB0D28F59}" type="datetime'''''''A''i''''r''''''''p''''''o''''r''''''''''''t''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Airport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D41CB6-C378-B15A-A955-28BBBC9C90AD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730375" y="5326063"/>
            <a:ext cx="72072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6D1AB19-B720-47C7-A0C7-5D4124ECD151}" type="datetime'''''Large'''' ''S''''t''''''a''d''i''um''''''/ ''Fa''ci''lity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Large Stadium/ Facility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792FBA-B64E-82BE-5B5F-F2BC284364F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749550" y="5326063"/>
            <a:ext cx="965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F78215A-DA26-4BC7-9B52-510E77D535B3}" type="datetime'''T''''''''''r''a''''i''''n'''' ''''S''''''''''''tati''on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Train Station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5D0BA-F97B-AFBD-B3AF-CA470D9DDED6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4067175" y="5326063"/>
            <a:ext cx="6143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A7349AE-8F88-4AF0-8EB8-2F93CE609ACE}" type="datetime'''''''S''ub''way ''St''a''''''''''''ti''o''''n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Subway Station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851361-55E9-06C6-C342-A0D0733475DC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5119688" y="5326063"/>
            <a:ext cx="7937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1FB026F-9624-4280-84D1-03ABE7691C7E}" type="datetime'''''''''''E''d''''''u''''''c''''''''''''a''t''i''on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Education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3296BB-A34B-C2B0-175E-0BAACADB0A2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151563" y="5326063"/>
            <a:ext cx="10128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4BB3F69-33A9-4E58-BD7F-100426BE1C6A}" type="datetime'''''C''''''o''''''u''''''r''th''''''ous''''''''''e''''''s''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Courthouses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5B326F-01C4-DB6B-25A8-5E9D53A9F800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477125" y="5326063"/>
            <a:ext cx="64611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117C72B-E041-4161-AB7B-C23689DA3CCB}" type="datetime'''''P''o''''l''''''''i''''''''''''ce'''''''' Stati''''''''ons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Police Stations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86BCE2-FC64-F260-3ADB-7521AE9C01D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8715375" y="5326063"/>
            <a:ext cx="450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FFBE0C0-CC41-47B8-98B2-049624B27D31}" type="datetime'''Ot''''''''''''''h''''''e''''''''''''''''''''''''r''''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Other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A734EB-1A99-3241-F337-8758FC919A0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9880600" y="5326063"/>
            <a:ext cx="4079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D1934CD-704B-4AE4-86DB-9C2F1DCAF672}" type="datetime'''Ar''''m''''y''''''''''''''''''''''''''''''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Army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4749D5-D636-A65C-8E94-DE398FC1E178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0712450" y="5326063"/>
            <a:ext cx="102711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438F1F12-035D-45F2-84DD-FC2F0F87B271}" type="datetime'Gov’''''''''''''''t'''' Depar''''''''t''''''''''m''e''''nts'''">
              <a:rPr lang="en-US" altLang="en-US" sz="14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Gov’t Departments</a:t>
            </a:fld>
            <a:endParaRPr lang="en-US" sz="1400" err="1">
              <a:solidFill>
                <a:schemeClr val="tx1"/>
              </a:solidFill>
              <a:sym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95CEAD-3F88-133A-499A-17801D88DC03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436688" y="1963738"/>
            <a:ext cx="28479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solidFill>
                  <a:srgbClr val="000000"/>
                </a:solidFill>
              </a:rPr>
              <a:t>Public Assembly ~37%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7742A516-5774-9344-EB5C-FFA09B24F25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 rot="16200000">
            <a:off x="2606099" y="499051"/>
            <a:ext cx="322793" cy="4053853"/>
          </a:xfrm>
          <a:prstGeom prst="rightBrace">
            <a:avLst/>
          </a:prstGeom>
          <a:ln w="127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560D33-8581-ABD4-2970-68A923B0FF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974063" y="2508455"/>
            <a:ext cx="25897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Public Order &amp; Safety ~21%</a:t>
            </a:r>
            <a:endParaRPr lang="en-US" sz="160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D256DBC2-E52A-7827-70B7-C9659D87D53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 rot="16200000">
            <a:off x="7088892" y="2431735"/>
            <a:ext cx="337119" cy="1731572"/>
          </a:xfrm>
          <a:prstGeom prst="rightBrace">
            <a:avLst/>
          </a:prstGeom>
          <a:ln w="127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6B7067-2806-E392-BF6F-BE2FA5A756D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533067" y="3621088"/>
            <a:ext cx="22636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Government </a:t>
            </a:r>
            <a:r>
              <a:rPr lang="en-US" sz="1600" b="1" err="1"/>
              <a:t>Bldgs</a:t>
            </a:r>
            <a:r>
              <a:rPr lang="en-US" sz="1600" b="1"/>
              <a:t> ~5%</a:t>
            </a:r>
            <a:endParaRPr lang="en-US" sz="160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484BABF0-0667-59E2-D3F7-1B627FDB893A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 rot="16200000">
            <a:off x="10426892" y="3598802"/>
            <a:ext cx="358775" cy="1709859"/>
          </a:xfrm>
          <a:prstGeom prst="rightBrace">
            <a:avLst/>
          </a:prstGeom>
          <a:ln w="12700">
            <a:solidFill>
              <a:schemeClr val="bg1">
                <a:lumMod val="65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FCA906-4A95-FF47-C6EF-789F7B0AF00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395788" y="1797050"/>
            <a:ext cx="23336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/>
              <a:t>Education ~23%</a:t>
            </a:r>
            <a:endParaRPr lang="en-US" sz="16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3EC922-6475-1D32-F417-BD0663CAF7A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9070975" y="1731700"/>
            <a:ext cx="2668588" cy="955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400">
                <a:solidFill>
                  <a:srgbClr val="000000"/>
                </a:solidFill>
              </a:rPr>
              <a:t>Other includes Hotel / Lodging and other smaller-scale public assembly buildings (museums, exhibition centers, etc.)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C76962F-A933-A81A-F4F2-4F380353960B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>
          <a:xfrm flipH="1">
            <a:off x="9366422" y="2680494"/>
            <a:ext cx="1038847" cy="69799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AF83B58-FEC3-D234-BD1D-6F3FBA00639A}"/>
              </a:ext>
            </a:extLst>
          </p:cNvPr>
          <p:cNvSpPr/>
          <p:nvPr/>
        </p:nvSpPr>
        <p:spPr>
          <a:xfrm>
            <a:off x="7878763" y="79799"/>
            <a:ext cx="3932237" cy="402929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Market Sizing and Segmentation</a:t>
            </a:r>
          </a:p>
        </p:txBody>
      </p:sp>
    </p:spTree>
    <p:extLst>
      <p:ext uri="{BB962C8B-B14F-4D97-AF65-F5344CB8AC3E}">
        <p14:creationId xmlns:p14="http://schemas.microsoft.com/office/powerpoint/2010/main" val="415039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F9A04BDD-FEA8-7139-F686-80EAC947659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A04BDD-FEA8-7139-F686-80EAC94765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55C9414-88BB-9B59-A5B7-0054B5CD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Mask / stamp creation and pattern transfer strongly influence fabrication costs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82893-4635-87E3-43D2-5203D4B8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CC3C2-CFD2-DEC3-2846-30830EFC5048}"/>
              </a:ext>
            </a:extLst>
          </p:cNvPr>
          <p:cNvSpPr/>
          <p:nvPr/>
        </p:nvSpPr>
        <p:spPr>
          <a:xfrm>
            <a:off x="381000" y="2933739"/>
            <a:ext cx="3717258" cy="29987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Certain designs will require variations throughout the process flow to achieve the desired specifications 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The cost implications of variations in wafer preparation and quality inspection are minimal relative to mask / master creation and pattern transfer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0825CC7D-0B46-BE03-56B7-A0E025C4BB41}"/>
              </a:ext>
            </a:extLst>
          </p:cNvPr>
          <p:cNvSpPr/>
          <p:nvPr/>
        </p:nvSpPr>
        <p:spPr>
          <a:xfrm>
            <a:off x="395236" y="1661532"/>
            <a:ext cx="2418122" cy="62180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cs typeface="Calibri"/>
              </a:rPr>
              <a:t>Make Photomask or Master Stamp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3F10101-8D4A-8539-C28D-73493260BBFD}"/>
              </a:ext>
            </a:extLst>
          </p:cNvPr>
          <p:cNvSpPr/>
          <p:nvPr/>
        </p:nvSpPr>
        <p:spPr>
          <a:xfrm>
            <a:off x="5939295" y="1661532"/>
            <a:ext cx="3800038" cy="621804"/>
          </a:xfrm>
          <a:prstGeom prst="chevron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tx1"/>
                </a:solidFill>
                <a:cs typeface="Calibri"/>
              </a:rPr>
              <a:t>Pattern Transfer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D41A44-5F95-2C0F-1CA9-4E470FE6089A}"/>
              </a:ext>
            </a:extLst>
          </p:cNvPr>
          <p:cNvSpPr/>
          <p:nvPr/>
        </p:nvSpPr>
        <p:spPr>
          <a:xfrm>
            <a:off x="395236" y="2411663"/>
            <a:ext cx="985562" cy="3416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Writing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8FA52-67D5-9F9F-904E-44DEF7A84D05}"/>
              </a:ext>
            </a:extLst>
          </p:cNvPr>
          <p:cNvSpPr/>
          <p:nvPr/>
        </p:nvSpPr>
        <p:spPr>
          <a:xfrm>
            <a:off x="1423642" y="2411662"/>
            <a:ext cx="1133634" cy="35184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cs typeface="Calibri"/>
              </a:rPr>
              <a:t>Inspection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D31608-78A6-A7D1-DC4A-C4E3A0FC9B0B}"/>
              </a:ext>
            </a:extLst>
          </p:cNvPr>
          <p:cNvSpPr/>
          <p:nvPr/>
        </p:nvSpPr>
        <p:spPr>
          <a:xfrm>
            <a:off x="2600120" y="2409658"/>
            <a:ext cx="1133633" cy="35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rgbClr val="7F7F7F"/>
                </a:solidFill>
                <a:cs typeface="Calibri"/>
              </a:rPr>
              <a:t>Inspection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0D5D98-E403-C56F-C9F5-98705EEAA245}"/>
              </a:ext>
            </a:extLst>
          </p:cNvPr>
          <p:cNvSpPr/>
          <p:nvPr/>
        </p:nvSpPr>
        <p:spPr>
          <a:xfrm>
            <a:off x="3776597" y="2407964"/>
            <a:ext cx="1120449" cy="35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rgbClr val="7F7F7F"/>
                </a:solidFill>
                <a:cs typeface="Calibri"/>
              </a:rPr>
              <a:t>Cleaning</a:t>
            </a:r>
            <a:endParaRPr lang="en-US" sz="1600">
              <a:solidFill>
                <a:srgbClr val="7F7F7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6860AB-6A79-3844-87FD-401826A70729}"/>
              </a:ext>
            </a:extLst>
          </p:cNvPr>
          <p:cNvSpPr/>
          <p:nvPr/>
        </p:nvSpPr>
        <p:spPr>
          <a:xfrm>
            <a:off x="4939890" y="2401430"/>
            <a:ext cx="947014" cy="35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rgbClr val="7F7F7F"/>
                </a:solidFill>
                <a:cs typeface="Calibri"/>
              </a:rPr>
              <a:t>Layering</a:t>
            </a:r>
            <a:endParaRPr lang="en-US">
              <a:solidFill>
                <a:srgbClr val="7F7F7F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F044CCA5-2C34-D2C4-2950-4EEA65F03BF4}"/>
              </a:ext>
            </a:extLst>
          </p:cNvPr>
          <p:cNvSpPr/>
          <p:nvPr/>
        </p:nvSpPr>
        <p:spPr>
          <a:xfrm>
            <a:off x="2639032" y="1661532"/>
            <a:ext cx="3474589" cy="62180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Wafer Preparation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63283816-4BC8-3B7E-65D3-4AB1EB529B1D}"/>
              </a:ext>
            </a:extLst>
          </p:cNvPr>
          <p:cNvSpPr/>
          <p:nvPr/>
        </p:nvSpPr>
        <p:spPr>
          <a:xfrm>
            <a:off x="9565008" y="1661532"/>
            <a:ext cx="2231756" cy="621804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tx1">
                    <a:lumMod val="50000"/>
                    <a:lumOff val="50000"/>
                  </a:schemeClr>
                </a:solidFill>
                <a:cs typeface="Calibri"/>
              </a:rPr>
              <a:t>Quality Inspection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E476EB-D1C5-9120-5A45-9FDD1696BEF7}"/>
              </a:ext>
            </a:extLst>
          </p:cNvPr>
          <p:cNvSpPr/>
          <p:nvPr/>
        </p:nvSpPr>
        <p:spPr>
          <a:xfrm>
            <a:off x="9549745" y="2401433"/>
            <a:ext cx="1094176" cy="3620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rgbClr val="7F7F7F"/>
                </a:solidFill>
                <a:cs typeface="Calibri"/>
              </a:rPr>
              <a:t>Metrology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023189-39E1-CA1D-AB7D-3CDC6B795BF5}"/>
              </a:ext>
            </a:extLst>
          </p:cNvPr>
          <p:cNvSpPr/>
          <p:nvPr/>
        </p:nvSpPr>
        <p:spPr>
          <a:xfrm>
            <a:off x="10686761" y="2401432"/>
            <a:ext cx="833657" cy="3620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rgbClr val="7F7F7F"/>
                </a:solidFill>
                <a:cs typeface="Calibri"/>
              </a:rPr>
              <a:t>Testing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D71942-36E3-EAC5-DD32-28E09B6C6FFF}"/>
              </a:ext>
            </a:extLst>
          </p:cNvPr>
          <p:cNvSpPr/>
          <p:nvPr/>
        </p:nvSpPr>
        <p:spPr>
          <a:xfrm>
            <a:off x="5929748" y="2407964"/>
            <a:ext cx="1467932" cy="345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err="1">
                <a:solidFill>
                  <a:schemeClr val="tx1"/>
                </a:solidFill>
                <a:cs typeface="Calibri"/>
              </a:rPr>
              <a:t>Litho</a:t>
            </a:r>
            <a:r>
              <a:rPr lang="en-US" sz="1600">
                <a:solidFill>
                  <a:schemeClr val="tx1"/>
                </a:solidFill>
                <a:cs typeface="Calibri"/>
              </a:rPr>
              <a:t> / Imprint</a:t>
            </a:r>
            <a:endParaRPr lang="en-US">
              <a:solidFill>
                <a:schemeClr val="tx1"/>
              </a:solidFill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0F114E-3B4B-DF65-598A-647062F90050}"/>
              </a:ext>
            </a:extLst>
          </p:cNvPr>
          <p:cNvSpPr/>
          <p:nvPr/>
        </p:nvSpPr>
        <p:spPr>
          <a:xfrm>
            <a:off x="7440524" y="2406545"/>
            <a:ext cx="833657" cy="345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  <a:cs typeface="Calibri"/>
              </a:rPr>
              <a:t>Etch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4349FD-0144-76DB-58E6-B0DBC4BE9D8A}"/>
              </a:ext>
            </a:extLst>
          </p:cNvPr>
          <p:cNvSpPr/>
          <p:nvPr/>
        </p:nvSpPr>
        <p:spPr>
          <a:xfrm>
            <a:off x="8317025" y="2401430"/>
            <a:ext cx="1189876" cy="345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>
                <a:solidFill>
                  <a:schemeClr val="tx1"/>
                </a:solidFill>
                <a:cs typeface="Calibri"/>
              </a:rPr>
              <a:t>ALD / CVD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49DF89-A2CD-7C91-EB2F-E73F40A73AD5}"/>
              </a:ext>
            </a:extLst>
          </p:cNvPr>
          <p:cNvSpPr txBox="1"/>
          <p:nvPr/>
        </p:nvSpPr>
        <p:spPr>
          <a:xfrm>
            <a:off x="380999" y="1104005"/>
            <a:ext cx="9142142" cy="536646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 anchor="t">
            <a:noAutofit/>
          </a:bodyPr>
          <a:lstStyle/>
          <a:p>
            <a:r>
              <a:rPr lang="en-US" sz="2000" b="1">
                <a:solidFill>
                  <a:schemeClr val="accent2"/>
                </a:solidFill>
              </a:rPr>
              <a:t>FABRICATION PROCESS FLOW OVERVIEW FOR DUV AND NIL</a:t>
            </a:r>
            <a:endParaRPr lang="en-US" sz="2000" b="1">
              <a:solidFill>
                <a:schemeClr val="accent2"/>
              </a:solidFill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B975DF-328A-F891-1E3F-600269EE2FB7}"/>
              </a:ext>
            </a:extLst>
          </p:cNvPr>
          <p:cNvSpPr/>
          <p:nvPr/>
        </p:nvSpPr>
        <p:spPr>
          <a:xfrm>
            <a:off x="4289823" y="2933739"/>
            <a:ext cx="3657389" cy="197279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bg1"/>
                </a:solidFill>
                <a:cs typeface="Calibri"/>
              </a:rPr>
              <a:t>“One of the most expensive things with NIL is the master fabrication. It’s likely #1 on our BOM cost. Second is etching."</a:t>
            </a:r>
          </a:p>
          <a:p>
            <a:pPr algn="r"/>
            <a:r>
              <a:rPr lang="en-US" i="1">
                <a:solidFill>
                  <a:schemeClr val="bg1"/>
                </a:solidFill>
                <a:cs typeface="Calibri"/>
              </a:rPr>
              <a:t>– Advanced Manufacturing, Engineering Manager, Meta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85C0AA-8348-C36D-A0F3-BAF425226D08}"/>
              </a:ext>
            </a:extLst>
          </p:cNvPr>
          <p:cNvSpPr/>
          <p:nvPr/>
        </p:nvSpPr>
        <p:spPr>
          <a:xfrm>
            <a:off x="8150526" y="2933739"/>
            <a:ext cx="3657389" cy="197279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chemeClr val="bg1"/>
                </a:solidFill>
                <a:cs typeface="Calibri"/>
              </a:rPr>
              <a:t>"Mask cost for DUV and NIL can vary quite dramatically depending on the feature size, pillar specs and geometry, and field size."</a:t>
            </a:r>
          </a:p>
          <a:p>
            <a:pPr algn="r"/>
            <a:r>
              <a:rPr lang="en-US" i="1">
                <a:solidFill>
                  <a:schemeClr val="bg1"/>
                </a:solidFill>
                <a:cs typeface="Calibri"/>
              </a:rPr>
              <a:t>– Lloyd </a:t>
            </a:r>
            <a:r>
              <a:rPr lang="en-US" i="1" err="1">
                <a:solidFill>
                  <a:schemeClr val="bg1"/>
                </a:solidFill>
                <a:cs typeface="Calibri"/>
              </a:rPr>
              <a:t>Litt</a:t>
            </a:r>
            <a:r>
              <a:rPr lang="en-US" i="1">
                <a:solidFill>
                  <a:schemeClr val="bg1"/>
                </a:solidFill>
                <a:cs typeface="Calibri"/>
              </a:rPr>
              <a:t>, </a:t>
            </a:r>
            <a:br>
              <a:rPr lang="en-US" i="1">
                <a:solidFill>
                  <a:schemeClr val="bg1"/>
                </a:solidFill>
                <a:cs typeface="Calibri"/>
              </a:rPr>
            </a:br>
            <a:r>
              <a:rPr lang="en-US" i="1">
                <a:solidFill>
                  <a:schemeClr val="bg1"/>
                </a:solidFill>
                <a:cs typeface="Calibri"/>
              </a:rPr>
              <a:t>Independent Consultant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DA1A3-619C-9553-0AB2-5F8089F137C6}"/>
              </a:ext>
            </a:extLst>
          </p:cNvPr>
          <p:cNvSpPr/>
          <p:nvPr/>
        </p:nvSpPr>
        <p:spPr>
          <a:xfrm>
            <a:off x="4275587" y="5123489"/>
            <a:ext cx="7521177" cy="8089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>
                <a:solidFill>
                  <a:srgbClr val="000000"/>
                </a:solidFill>
                <a:cs typeface="Calibri"/>
              </a:rPr>
              <a:t>"More etching steps means more expense."</a:t>
            </a:r>
            <a:endParaRPr lang="en-US">
              <a:solidFill>
                <a:srgbClr val="FFFFFF"/>
              </a:solidFill>
              <a:cs typeface="Calibri"/>
            </a:endParaRPr>
          </a:p>
          <a:p>
            <a:pPr algn="r"/>
            <a:r>
              <a:rPr lang="en-US" i="1">
                <a:solidFill>
                  <a:srgbClr val="000000"/>
                </a:solidFill>
                <a:ea typeface="+mn-lt"/>
                <a:cs typeface="Calibri"/>
              </a:rPr>
              <a:t>– </a:t>
            </a:r>
            <a:r>
              <a:rPr lang="en-US" i="1">
                <a:solidFill>
                  <a:srgbClr val="000000"/>
                </a:solidFill>
                <a:ea typeface="+mn-lt"/>
                <a:cs typeface="+mn-lt"/>
              </a:rPr>
              <a:t>Adam Schwartzberg, Lawrence Berkeley National Laboratory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073635-6E66-0E97-8841-F6C18B1F2780}"/>
              </a:ext>
            </a:extLst>
          </p:cNvPr>
          <p:cNvSpPr/>
          <p:nvPr/>
        </p:nvSpPr>
        <p:spPr>
          <a:xfrm>
            <a:off x="7666284" y="141584"/>
            <a:ext cx="4144717" cy="36512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Value Chain – Industry Commentary</a:t>
            </a:r>
          </a:p>
        </p:txBody>
      </p:sp>
    </p:spTree>
    <p:extLst>
      <p:ext uri="{BB962C8B-B14F-4D97-AF65-F5344CB8AC3E}">
        <p14:creationId xmlns:p14="http://schemas.microsoft.com/office/powerpoint/2010/main" val="340227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3A0BAC52-6E4E-1885-42AC-572A313FB22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5" imgH="484" progId="TCLayout.ActiveDocument.1">
                  <p:embed/>
                </p:oleObj>
              </mc:Choice>
              <mc:Fallback>
                <p:oleObj name="think-cell Slide" r:id="rId3" imgW="495" imgH="484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0BAC52-6E4E-1885-42AC-572A313FB2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58B4E4-E540-AF89-CD54-4D438C24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The most promising application for Phyllo / Willow® is for Space PV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C018F-24AC-A1E4-93E9-FD3ECE5F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58D1B-E4CD-4092-A64A-067BEFC75A1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83823-2066-D8EB-3D76-15ABCBC5D9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1B0F92C8-74AD-75B5-2D56-573F4D1BF02F}"/>
              </a:ext>
            </a:extLst>
          </p:cNvPr>
          <p:cNvGraphicFramePr>
            <a:graphicFrameLocks noGrp="1"/>
          </p:cNvGraphicFramePr>
          <p:nvPr/>
        </p:nvGraphicFramePr>
        <p:xfrm>
          <a:off x="380998" y="1554480"/>
          <a:ext cx="11468101" cy="4648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7025">
                  <a:extLst>
                    <a:ext uri="{9D8B030D-6E8A-4147-A177-3AD203B41FA5}">
                      <a16:colId xmlns:a16="http://schemas.microsoft.com/office/drawing/2014/main" val="605592970"/>
                    </a:ext>
                  </a:extLst>
                </a:gridCol>
                <a:gridCol w="9451076">
                  <a:extLst>
                    <a:ext uri="{9D8B030D-6E8A-4147-A177-3AD203B41FA5}">
                      <a16:colId xmlns:a16="http://schemas.microsoft.com/office/drawing/2014/main" val="3966265045"/>
                    </a:ext>
                  </a:extLst>
                </a:gridCol>
              </a:tblGrid>
              <a:tr h="281836"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/>
                        <a:t>Recommendations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776798"/>
                  </a:ext>
                </a:extLst>
              </a:tr>
              <a:tr h="691779">
                <a:tc>
                  <a:txBody>
                    <a:bodyPr/>
                    <a:lstStyle/>
                    <a:p>
                      <a:r>
                        <a:rPr lang="en-US" sz="1600"/>
                        <a:t>Space PV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2720" indent="-172720" algn="l" defTabSz="609585" rtl="0" eaLnBrk="1" latinLnBrk="0" hangingPunct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Addressable market of 4 – 5k m</a:t>
                      </a:r>
                      <a:r>
                        <a:rPr lang="en-US" sz="1600" kern="1200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Ce-doped glass and rising, potentially worth $12M – $30M</a:t>
                      </a:r>
                    </a:p>
                    <a:p>
                      <a:pPr marL="172720" indent="-172720" algn="l" defTabSz="609585" rtl="0" eaLnBrk="1" latinLnBrk="0" hangingPunct="1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Glass supply remains tight as commercial small satellite constellations scale up; </a:t>
                      </a:r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customers are looking for additional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glass suppliers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 and eager to engage with Corning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576338"/>
                  </a:ext>
                </a:extLst>
              </a:tr>
              <a:tr h="486807">
                <a:tc>
                  <a:txBody>
                    <a:bodyPr/>
                    <a:lstStyle/>
                    <a:p>
                      <a:r>
                        <a:rPr lang="en-US" sz="1600"/>
                        <a:t>Optical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Opportunity for clear, thin glass appears to be ~10,000 m</a:t>
                      </a:r>
                      <a:r>
                        <a:rPr lang="en-US" sz="1600" baseline="3000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600" baseline="0">
                          <a:solidFill>
                            <a:schemeClr val="tx1"/>
                          </a:solidFill>
                        </a:rPr>
                        <a:t>; however, additional interviews are needed to understand tradeoffs between the thickness of coatings and thinness of glass</a:t>
                      </a:r>
                      <a:endParaRPr lang="en-US" sz="1600" baseline="300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022964"/>
                  </a:ext>
                </a:extLst>
              </a:tr>
              <a:tr h="486807">
                <a:tc rowSpan="3">
                  <a:txBody>
                    <a:bodyPr/>
                    <a:lstStyle/>
                    <a:p>
                      <a:r>
                        <a:rPr lang="en-US" sz="1600"/>
                        <a:t>Specialty PV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err="1">
                          <a:solidFill>
                            <a:schemeClr val="tx1"/>
                          </a:solidFill>
                        </a:rPr>
                        <a:t>CdTe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: Non-utility market leader (Toledo Solar) is interested in thinner glass, and is ready to meet with Corning to share specifics; Schott D263T 100 µm and Willow 200 µm have been tested at lab 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79027"/>
                  </a:ext>
                </a:extLst>
              </a:tr>
              <a:tr h="281836">
                <a:tc vMerge="1"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Spec PV: CIGS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CIGS: Industry is interested in ultra-thin glass but may have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unreasonable technical needs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187621"/>
                  </a:ext>
                </a:extLst>
              </a:tr>
              <a:tr h="281836">
                <a:tc vMerge="1"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Spec PV: </a:t>
                      </a:r>
                      <a:r>
                        <a:rPr kumimoji="0" lang="en-US" sz="16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Perovs</a:t>
                      </a: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Perovskites: Critical barrier layer performance is needed, but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large-scale manufacturing is 5+ years out</a:t>
                      </a:r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167071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r>
                        <a:rPr lang="en-US" sz="1600"/>
                        <a:t>Transparent Heaters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Thin glass transparent heaters will compete with commodity acrylics, polycarbs, and wire mesh 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36081"/>
                  </a:ext>
                </a:extLst>
              </a:tr>
              <a:tr h="486807">
                <a:tc>
                  <a:txBody>
                    <a:bodyPr/>
                    <a:lstStyle/>
                    <a:p>
                      <a:r>
                        <a:rPr lang="en-US" sz="1600" i="0"/>
                        <a:t>Microscope Coverslips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Corning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unable to compete on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98000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r>
                        <a:rPr lang="en-US" sz="1600"/>
                        <a:t>Microfluidics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Majority of market is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polymers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; glass used is 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thicker (1mm); </a:t>
                      </a: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Schott </a:t>
                      </a: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D263M used for bonding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625409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r>
                        <a:rPr lang="en-US" sz="1600" i="0"/>
                        <a:t>Semicon Wafer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5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/>
                        <a:t>Corning Precision Glass </a:t>
                      </a:r>
                      <a:r>
                        <a:rPr lang="en-US" sz="1600" b="1"/>
                        <a:t>already active in market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8683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8442890-250D-E768-9C4A-6B77F220D780}"/>
              </a:ext>
            </a:extLst>
          </p:cNvPr>
          <p:cNvSpPr txBox="1"/>
          <p:nvPr/>
        </p:nvSpPr>
        <p:spPr>
          <a:xfrm>
            <a:off x="380999" y="1066461"/>
            <a:ext cx="4370120" cy="365125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rtlCol="0">
            <a:noAutofit/>
          </a:bodyPr>
          <a:lstStyle/>
          <a:p>
            <a:r>
              <a:rPr lang="en-US" sz="2000" b="1">
                <a:solidFill>
                  <a:schemeClr val="accent2"/>
                </a:solidFill>
              </a:rPr>
              <a:t>PHYLLO / WILLOW® APPLICATIONS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6DB82DB4-7361-D9EE-FB38-4AE7062AF7AC}"/>
              </a:ext>
            </a:extLst>
          </p:cNvPr>
          <p:cNvGraphicFramePr>
            <a:graphicFrameLocks noGrp="1"/>
          </p:cNvGraphicFramePr>
          <p:nvPr/>
        </p:nvGraphicFramePr>
        <p:xfrm>
          <a:off x="6147240" y="1115823"/>
          <a:ext cx="5701860" cy="3352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00620">
                  <a:extLst>
                    <a:ext uri="{9D8B030D-6E8A-4147-A177-3AD203B41FA5}">
                      <a16:colId xmlns:a16="http://schemas.microsoft.com/office/drawing/2014/main" val="4056494181"/>
                    </a:ext>
                  </a:extLst>
                </a:gridCol>
                <a:gridCol w="1900620">
                  <a:extLst>
                    <a:ext uri="{9D8B030D-6E8A-4147-A177-3AD203B41FA5}">
                      <a16:colId xmlns:a16="http://schemas.microsoft.com/office/drawing/2014/main" val="3796373544"/>
                    </a:ext>
                  </a:extLst>
                </a:gridCol>
                <a:gridCol w="1900620">
                  <a:extLst>
                    <a:ext uri="{9D8B030D-6E8A-4147-A177-3AD203B41FA5}">
                      <a16:colId xmlns:a16="http://schemas.microsoft.com/office/drawing/2014/main" val="2196047149"/>
                    </a:ext>
                  </a:extLst>
                </a:gridCol>
              </a:tblGrid>
              <a:tr h="127907"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Pursue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Investigate Further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Deprioritize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14474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74780C7B-2698-EAB9-F98A-7EFA66533D1C}"/>
              </a:ext>
            </a:extLst>
          </p:cNvPr>
          <p:cNvSpPr/>
          <p:nvPr/>
        </p:nvSpPr>
        <p:spPr>
          <a:xfrm>
            <a:off x="8861703" y="141584"/>
            <a:ext cx="2949298" cy="408667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Target Market Selection</a:t>
            </a:r>
          </a:p>
        </p:txBody>
      </p:sp>
    </p:spTree>
    <p:extLst>
      <p:ext uri="{BB962C8B-B14F-4D97-AF65-F5344CB8AC3E}">
        <p14:creationId xmlns:p14="http://schemas.microsoft.com/office/powerpoint/2010/main" val="20816853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oE1lHu0zSdJa31Ptu4P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09dXBw2RJqiS3OYufSW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vuY3ofEYX.rkAoN20yg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b4SV0VjUd4LeAFlRrVV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P9YlmaPIhloZQckkTEHS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otLoycZjPbCojBYPE5v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XajizvXpkEFhKvsE4U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GBWdQzA2D0Ra2qqT42U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LDaTc2QtbvnjSpSMSCR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2_qouAFfgom8KszA2JD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FQLfUPjfYBXkY4nnOjmP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1nuTPun0Q9mCBfEEFBWo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VThk4k.ctIRmfTTS3A8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vn3f5jAKCSITQtW1TH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d5CCMFX.iYyilJvIX8y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qDmPRO37tbu7S5Z3WaL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GXwFHJpB9Ccqr6eMyLN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emEIgxtZJK6tSs8xItg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h.clItbw4h_NZTuwUKH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y68z3RhaGTS.jPERFVW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5SDsjhshM.DJEzdT3KW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Q1Ckl5HcwHD1Hmh7i9l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rc.Qiu_g06nf47q6Ez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TaVX8ScDc3T5wtyrZOr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x10apbhuBx43KCvRk1I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gVSojtIHS9uZokk0bnE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CyR7mckY99K2hS1O1p5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2XHzMF6L0LyjSBJP3nc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g8_4Eqd1V.CveQmvSZP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XmKvqYDdHMzc4KJngAs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cCMiT_qZgSOiR5EoQNwc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B9jU7wrZovG9d5BBrqa6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5f._q3ZUVov65kTySbYr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EsYmtvDnpBTU.AhupkKN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YKh.eEEeOPuyTljJTy3w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Xs07wS4.FUb2udCSonBx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fuWNzXlk3zffkj7JcOA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uLlo9ggak8YIfZmEHgI4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hF.a_4jUEBzkcp8XQZ.l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888</Words>
  <Application>Microsoft Office PowerPoint</Application>
  <PresentationFormat>Custom</PresentationFormat>
  <Paragraphs>147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think-cell Slide</vt:lpstr>
      <vt:lpstr>While early-stage, precision and cultivated proteins are poised for rapid growth</vt:lpstr>
      <vt:lpstr>The global mkt. is ~10,000 reactors with &gt;80% of demand from China and India</vt:lpstr>
      <vt:lpstr>WTMD systems are sold into a variety of market segments</vt:lpstr>
      <vt:lpstr>Mask / stamp creation and pattern transfer strongly influence fabrication costs</vt:lpstr>
      <vt:lpstr>The most promising application for Phyllo / Willow® is for Space PV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Sylvan Shank</dc:creator>
  <cp:lastModifiedBy>Sylvan Shank</cp:lastModifiedBy>
  <cp:revision>1</cp:revision>
  <dcterms:created xsi:type="dcterms:W3CDTF">2026-06-22T12:25:41Z</dcterms:created>
  <dcterms:modified xsi:type="dcterms:W3CDTF">2026-06-22T12:25:41Z</dcterms:modified>
</cp:coreProperties>
</file>